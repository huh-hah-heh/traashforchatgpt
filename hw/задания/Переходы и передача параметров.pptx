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6"/>
  </p:notesMasterIdLst>
  <p:handoutMasterIdLst>
    <p:handoutMasterId r:id="rId17"/>
  </p:handoutMasterIdLst>
  <p:sldIdLst>
    <p:sldId id="306" r:id="rId5"/>
    <p:sldId id="307" r:id="rId6"/>
    <p:sldId id="308" r:id="rId7"/>
    <p:sldId id="322" r:id="rId8"/>
    <p:sldId id="310" r:id="rId9"/>
    <p:sldId id="311" r:id="rId10"/>
    <p:sldId id="324" r:id="rId11"/>
    <p:sldId id="325" r:id="rId12"/>
    <p:sldId id="323" r:id="rId13"/>
    <p:sldId id="326" r:id="rId14"/>
    <p:sldId id="312" r:id="rId1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4967" autoAdjust="0"/>
  </p:normalViewPr>
  <p:slideViewPr>
    <p:cSldViewPr snapToGrid="0">
      <p:cViewPr varScale="1">
        <p:scale>
          <a:sx n="123" d="100"/>
          <a:sy n="123" d="100"/>
        </p:scale>
        <p:origin x="114" y="210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9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3B1B801B-F4B8-459C-A0DB-42C00BB61E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A0B2DC45-33C8-4ACD-A8B4-824FC0BA71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54181-0B45-450D-B35E-7AF7AACE2E53}" type="datetime1">
              <a:rPr lang="ru-RU" smtClean="0"/>
              <a:t>19.10.2023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19B46A40-0BDE-4957-9061-2503F40313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E038A883-27AD-4BB1-B0C8-1BEB96FD4C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35BD9-EE19-4F70-92E5-2D59E67BD1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48612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435D3A4-2A58-4C50-BCBA-FDFC20DE69E5}" type="datetime1">
              <a:rPr lang="ru-RU" noProof="0" smtClean="0"/>
              <a:t>19.10.2023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5939589-3E79-4C82-AA4A-FE78234FAA59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305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212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325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353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9810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5939589-3E79-4C82-AA4A-FE78234FAA5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4053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l">
              <a:defRPr sz="6000" b="1" i="0" cap="all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 2">
            <a:extLst>
              <a:ext uri="{FF2B5EF4-FFF2-40B4-BE49-F238E27FC236}">
                <a16:creationId xmlns:a16="http://schemas.microsoft.com/office/drawing/2014/main" xmlns="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xmlns="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Слайд с заголовком 2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xmlns="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rtlCol="0"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 rtlCol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xmlns="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Графический объект 12">
            <a:extLst>
              <a:ext uri="{FF2B5EF4-FFF2-40B4-BE49-F238E27FC236}">
                <a16:creationId xmlns:a16="http://schemas.microsoft.com/office/drawing/2014/main" xmlns="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21" name="Графический объект 13">
            <a:extLst>
              <a:ext uri="{FF2B5EF4-FFF2-40B4-BE49-F238E27FC236}">
                <a16:creationId xmlns:a16="http://schemas.microsoft.com/office/drawing/2014/main" xmlns="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23" name="Графический объект 15">
            <a:extLst>
              <a:ext uri="{FF2B5EF4-FFF2-40B4-BE49-F238E27FC236}">
                <a16:creationId xmlns:a16="http://schemas.microsoft.com/office/drawing/2014/main" xmlns="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олько заголовок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Рисунок 18">
            <a:extLst>
              <a:ext uri="{FF2B5EF4-FFF2-40B4-BE49-F238E27FC236}">
                <a16:creationId xmlns:a16="http://schemas.microsoft.com/office/drawing/2014/main" xmlns="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rtlCol="0"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Заголовок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03.09.20ГГ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xmlns="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15">
            <a:extLst>
              <a:ext uri="{FF2B5EF4-FFF2-40B4-BE49-F238E27FC236}">
                <a16:creationId xmlns:a16="http://schemas.microsoft.com/office/drawing/2014/main" xmlns="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02936" y="3127248"/>
            <a:ext cx="5833872" cy="3118104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1" name="Графический объект 12">
            <a:extLst>
              <a:ext uri="{FF2B5EF4-FFF2-40B4-BE49-F238E27FC236}">
                <a16:creationId xmlns:a16="http://schemas.microsoft.com/office/drawing/2014/main" xmlns="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3" name="Графический объект 13">
            <a:extLst>
              <a:ext uri="{FF2B5EF4-FFF2-40B4-BE49-F238E27FC236}">
                <a16:creationId xmlns:a16="http://schemas.microsoft.com/office/drawing/2014/main" xmlns="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7" name="Графический объект 15">
            <a:extLst>
              <a:ext uri="{FF2B5EF4-FFF2-40B4-BE49-F238E27FC236}">
                <a16:creationId xmlns:a16="http://schemas.microsoft.com/office/drawing/2014/main" xmlns="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Рисунок 14">
            <a:extLst>
              <a:ext uri="{FF2B5EF4-FFF2-40B4-BE49-F238E27FC236}">
                <a16:creationId xmlns:a16="http://schemas.microsoft.com/office/drawing/2014/main" xmlns="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rtlCol="0" anchor="b"/>
          <a:lstStyle>
            <a:lvl1pPr>
              <a:defRPr sz="54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50392" y="2825496"/>
            <a:ext cx="6190488" cy="3346704"/>
          </a:xfrm>
        </p:spPr>
        <p:txBody>
          <a:bodyPr rtlCol="0"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 noProof="0"/>
              <a:t>03.09.20ГГ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xmlns="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Графический объект 10">
            <a:extLst>
              <a:ext uri="{FF2B5EF4-FFF2-40B4-BE49-F238E27FC236}">
                <a16:creationId xmlns:a16="http://schemas.microsoft.com/office/drawing/2014/main" xmlns="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9" name="Графический объект 11">
            <a:extLst>
              <a:ext uri="{FF2B5EF4-FFF2-40B4-BE49-F238E27FC236}">
                <a16:creationId xmlns:a16="http://schemas.microsoft.com/office/drawing/2014/main" xmlns="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оловок раздела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rtlCol="0"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4" name="Графический объект 12">
            <a:extLst>
              <a:ext uri="{FF2B5EF4-FFF2-40B4-BE49-F238E27FC236}">
                <a16:creationId xmlns:a16="http://schemas.microsoft.com/office/drawing/2014/main" xmlns="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5" name="Графический объект 13">
            <a:extLst>
              <a:ext uri="{FF2B5EF4-FFF2-40B4-BE49-F238E27FC236}">
                <a16:creationId xmlns:a16="http://schemas.microsoft.com/office/drawing/2014/main" xmlns="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6" name="Графический объект 15">
            <a:extLst>
              <a:ext uri="{FF2B5EF4-FFF2-40B4-BE49-F238E27FC236}">
                <a16:creationId xmlns:a16="http://schemas.microsoft.com/office/drawing/2014/main" xmlns="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7" name="Графический объект 22">
            <a:extLst>
              <a:ext uri="{FF2B5EF4-FFF2-40B4-BE49-F238E27FC236}">
                <a16:creationId xmlns:a16="http://schemas.microsoft.com/office/drawing/2014/main" xmlns="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1" name="Графический объект 21">
            <a:extLst>
              <a:ext uri="{FF2B5EF4-FFF2-40B4-BE49-F238E27FC236}">
                <a16:creationId xmlns:a16="http://schemas.microsoft.com/office/drawing/2014/main" xmlns="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3" name="Графический объект 23">
            <a:extLst>
              <a:ext uri="{FF2B5EF4-FFF2-40B4-BE49-F238E27FC236}">
                <a16:creationId xmlns:a16="http://schemas.microsoft.com/office/drawing/2014/main" xmlns="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xmlns="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 sz="54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 5">
            <a:extLst>
              <a:ext uri="{FF2B5EF4-FFF2-40B4-BE49-F238E27FC236}">
                <a16:creationId xmlns:a16="http://schemas.microsoft.com/office/drawing/2014/main" xmlns="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xmlns="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rtlCol="0"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 rtlCol="0"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xmlns="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xmlns="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 rtlCol="0"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Заголовок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072" y="1825625"/>
            <a:ext cx="10771632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03.09.20ГГ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9" name="Графический объект 22">
            <a:extLst>
              <a:ext uri="{FF2B5EF4-FFF2-40B4-BE49-F238E27FC236}">
                <a16:creationId xmlns:a16="http://schemas.microsoft.com/office/drawing/2014/main" xmlns="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1" name="Графический объект 23">
            <a:extLst>
              <a:ext uri="{FF2B5EF4-FFF2-40B4-BE49-F238E27FC236}">
                <a16:creationId xmlns:a16="http://schemas.microsoft.com/office/drawing/2014/main" xmlns="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xmlns="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95B9122-6371-4049-B57A-33DED7DA2F7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4752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BA14555D-0753-4312-A26B-2338813F9BB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784848" y="1825625"/>
            <a:ext cx="4553712" cy="4351338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xmlns="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Графический объект 15">
            <a:extLst>
              <a:ext uri="{FF2B5EF4-FFF2-40B4-BE49-F238E27FC236}">
                <a16:creationId xmlns:a16="http://schemas.microsoft.com/office/drawing/2014/main" xmlns="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2" name="Графический объект 16">
            <a:extLst>
              <a:ext uri="{FF2B5EF4-FFF2-40B4-BE49-F238E27FC236}">
                <a16:creationId xmlns:a16="http://schemas.microsoft.com/office/drawing/2014/main" xmlns="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4" name="Графический объект 14">
            <a:extLst>
              <a:ext uri="{FF2B5EF4-FFF2-40B4-BE49-F238E27FC236}">
                <a16:creationId xmlns:a16="http://schemas.microsoft.com/office/drawing/2014/main" xmlns="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72A2D237-A706-4712-90CA-B04517CBBE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44752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44752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F3D53357-616B-47F4-944B-F979FE96635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784848" y="1681163"/>
            <a:ext cx="4553712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84848" y="2505075"/>
            <a:ext cx="4553712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xmlns="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Графический объект 15">
            <a:extLst>
              <a:ext uri="{FF2B5EF4-FFF2-40B4-BE49-F238E27FC236}">
                <a16:creationId xmlns:a16="http://schemas.microsoft.com/office/drawing/2014/main" xmlns="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4" name="Графический объект 16">
            <a:extLst>
              <a:ext uri="{FF2B5EF4-FFF2-40B4-BE49-F238E27FC236}">
                <a16:creationId xmlns:a16="http://schemas.microsoft.com/office/drawing/2014/main" xmlns="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6" name="Графический объект 14">
            <a:extLst>
              <a:ext uri="{FF2B5EF4-FFF2-40B4-BE49-F238E27FC236}">
                <a16:creationId xmlns:a16="http://schemas.microsoft.com/office/drawing/2014/main" xmlns="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xmlns="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72A2D237-A706-4712-90CA-B04517CBBE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444752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44752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F3D53357-616B-47F4-944B-F979FE96635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983480" y="1681163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983480" y="2505075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xmlns="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Графический объект 15">
            <a:extLst>
              <a:ext uri="{FF2B5EF4-FFF2-40B4-BE49-F238E27FC236}">
                <a16:creationId xmlns:a16="http://schemas.microsoft.com/office/drawing/2014/main" xmlns="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4" name="Графический объект 16">
            <a:extLst>
              <a:ext uri="{FF2B5EF4-FFF2-40B4-BE49-F238E27FC236}">
                <a16:creationId xmlns:a16="http://schemas.microsoft.com/office/drawing/2014/main" xmlns="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6" name="Графический объект 14">
            <a:extLst>
              <a:ext uri="{FF2B5EF4-FFF2-40B4-BE49-F238E27FC236}">
                <a16:creationId xmlns:a16="http://schemas.microsoft.com/office/drawing/2014/main" xmlns="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5" name="Текст 4">
            <a:extLst>
              <a:ext uri="{FF2B5EF4-FFF2-40B4-BE49-F238E27FC236}">
                <a16:creationId xmlns:a16="http://schemas.microsoft.com/office/drawing/2014/main" xmlns="" id="{2D693B15-7265-4478-9579-62FCD5222D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31352" y="1769269"/>
            <a:ext cx="2834640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7" name="Объект 5">
            <a:extLst>
              <a:ext uri="{FF2B5EF4-FFF2-40B4-BE49-F238E27FC236}">
                <a16:creationId xmlns:a16="http://schemas.microsoft.com/office/drawing/2014/main" xmlns="" id="{48F9E92F-BB16-4896-A47F-6497C3D705B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531352" y="2593181"/>
            <a:ext cx="2834640" cy="3684588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rtlCol="0" anchor="b"/>
          <a:lstStyle>
            <a:lvl1pPr algn="l">
              <a:defRPr sz="5400" b="0" i="0" cap="none" baseline="0"/>
            </a:lvl1pPr>
          </a:lstStyle>
          <a:p>
            <a:pPr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pPr/>
              <a:t>‹#›</a:t>
            </a:fld>
            <a:endParaRPr lang="ru-RU" noProof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xmlns="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xmlns="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0" name="Рисунок 12">
            <a:extLst>
              <a:ext uri="{FF2B5EF4-FFF2-40B4-BE49-F238E27FC236}">
                <a16:creationId xmlns:a16="http://schemas.microsoft.com/office/drawing/2014/main" xmlns="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11" name="Рисунок 12">
            <a:extLst>
              <a:ext uri="{FF2B5EF4-FFF2-40B4-BE49-F238E27FC236}">
                <a16:creationId xmlns:a16="http://schemas.microsoft.com/office/drawing/2014/main" xmlns="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rtlCol="0"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32">
            <a:extLst>
              <a:ext uri="{FF2B5EF4-FFF2-40B4-BE49-F238E27FC236}">
                <a16:creationId xmlns:a16="http://schemas.microsoft.com/office/drawing/2014/main" xmlns="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32" name="Рисунок 31">
            <a:extLst>
              <a:ext uri="{FF2B5EF4-FFF2-40B4-BE49-F238E27FC236}">
                <a16:creationId xmlns:a16="http://schemas.microsoft.com/office/drawing/2014/main" xmlns="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xmlns="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xmlns="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rtlCol="0"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03.09.20ГГ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8" name="Графический объект 32">
            <a:extLst>
              <a:ext uri="{FF2B5EF4-FFF2-40B4-BE49-F238E27FC236}">
                <a16:creationId xmlns:a16="http://schemas.microsoft.com/office/drawing/2014/main" xmlns="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0" name="Графический объект 33">
            <a:extLst>
              <a:ext uri="{FF2B5EF4-FFF2-40B4-BE49-F238E27FC236}">
                <a16:creationId xmlns:a16="http://schemas.microsoft.com/office/drawing/2014/main" xmlns="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sp>
        <p:nvSpPr>
          <p:cNvPr id="12" name="Графический объект 31">
            <a:extLst>
              <a:ext uri="{FF2B5EF4-FFF2-40B4-BE49-F238E27FC236}">
                <a16:creationId xmlns:a16="http://schemas.microsoft.com/office/drawing/2014/main" xmlns="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ru-RU" noProof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xmlns="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15">
            <a:extLst>
              <a:ext uri="{FF2B5EF4-FFF2-40B4-BE49-F238E27FC236}">
                <a16:creationId xmlns:a16="http://schemas.microsoft.com/office/drawing/2014/main" xmlns="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0" y="3127248"/>
            <a:ext cx="5276088" cy="1124712"/>
          </a:xfrm>
        </p:spPr>
        <p:txBody>
          <a:bodyPr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03.09.20ГГ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xmlns="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03.09.20ГГ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xmlns="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xmlns="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EF71768-C3FA-49EF-99EF-06E6C3B284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92DA6F24-ED6C-4D12-A9D6-EE37FBD6869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03.09.20ГГ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xmlns="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xmlns="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Рисунок 2">
            <a:extLst>
              <a:ext uri="{FF2B5EF4-FFF2-40B4-BE49-F238E27FC236}">
                <a16:creationId xmlns:a16="http://schemas.microsoft.com/office/drawing/2014/main" xmlns="" id="{C55ED73B-8413-478D-80D7-B78B69763B69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Щелкните значок, чтобы добавить фото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91BDF226-1B94-4D2D-98B3-7B932FB17DA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/>
              <a:t>03.09.20ГГ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noProof="0" smtClean="0"/>
              <a:t>‹#›</a:t>
            </a:fld>
            <a:endParaRPr lang="ru-RU" noProof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xmlns="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03.09.20ГГ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ru-RU" noProof="0"/>
              <a:t>Название презентации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8DA9DAA-006C-4F4B-980E-E3DF019B24E2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432" y="2249704"/>
            <a:ext cx="8592000" cy="2843784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sz="5400" spc="400" dirty="0">
                <a:solidFill>
                  <a:schemeClr val="bg1"/>
                </a:solidFill>
              </a:rPr>
              <a:t>КЛАСС </a:t>
            </a:r>
            <a:r>
              <a:rPr lang="en-US" sz="5400" spc="400" dirty="0">
                <a:solidFill>
                  <a:schemeClr val="bg1"/>
                </a:solidFill>
              </a:rPr>
              <a:t>WINDOW</a:t>
            </a:r>
            <a:r>
              <a:rPr lang="ru-RU" spc="400" dirty="0"/>
              <a:t>.</a:t>
            </a:r>
            <a:br>
              <a:rPr lang="ru-RU" spc="400" dirty="0"/>
            </a:br>
            <a:r>
              <a:rPr lang="ru-RU" spc="400" dirty="0"/>
              <a:t/>
            </a:r>
            <a:br>
              <a:rPr lang="ru-RU" spc="400" dirty="0"/>
            </a:br>
            <a:r>
              <a:rPr lang="ru-RU" spc="400" dirty="0"/>
              <a:t>Переходы МЕЖДУ ОКНАМИ И ПЕРЕДАЧА ПАРАМЕТРОВ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4199" y="5437135"/>
            <a:ext cx="5093208" cy="1197864"/>
          </a:xfrm>
        </p:spPr>
        <p:txBody>
          <a:bodyPr rtlCol="0" anchor="b"/>
          <a:lstStyle/>
          <a:p>
            <a:pPr rtl="0"/>
            <a:r>
              <a:rPr lang="ru-RU" sz="2000" dirty="0">
                <a:solidFill>
                  <a:schemeClr val="bg1"/>
                </a:solidFill>
              </a:rPr>
              <a:t>Сафрыгина З.К.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b="1" cap="all" spc="400" dirty="0">
                <a:solidFill>
                  <a:schemeClr val="bg1"/>
                </a:solidFill>
                <a:latin typeface="+mn-lt"/>
              </a:rPr>
              <a:t>РАЗДЕЛЫ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7"/>
            <a:ext cx="5833872" cy="1911284"/>
          </a:xfrm>
        </p:spPr>
        <p:txBody>
          <a:bodyPr rtlCol="0">
            <a:normAutofit/>
          </a:bodyPr>
          <a:lstStyle/>
          <a:p>
            <a:pPr algn="r" rtl="0"/>
            <a:r>
              <a:rPr lang="ru-RU" sz="2800" b="1" dirty="0"/>
              <a:t>Класс </a:t>
            </a:r>
            <a:r>
              <a:rPr lang="en-US" sz="2800" b="1" dirty="0"/>
              <a:t>Window</a:t>
            </a:r>
            <a:r>
              <a:rPr lang="ru-RU" sz="2800" b="1" dirty="0"/>
              <a:t>. Свойства окон</a:t>
            </a:r>
          </a:p>
          <a:p>
            <a:pPr algn="r" rtl="0"/>
            <a:r>
              <a:rPr lang="ru-RU" sz="1800" dirty="0">
                <a:solidFill>
                  <a:schemeClr val="bg1"/>
                </a:solidFill>
              </a:rPr>
              <a:t>Взаимодействие между окнами</a:t>
            </a:r>
          </a:p>
          <a:p>
            <a:pPr algn="r" rtl="0"/>
            <a:r>
              <a:rPr lang="ru-RU" sz="1800" dirty="0">
                <a:solidFill>
                  <a:schemeClr val="bg1"/>
                </a:solidFill>
              </a:rPr>
              <a:t>Диалоговые окна</a:t>
            </a:r>
          </a:p>
          <a:p>
            <a:pPr algn="r" rtl="0"/>
            <a:r>
              <a:rPr lang="ru-RU" sz="1800" dirty="0">
                <a:solidFill>
                  <a:schemeClr val="bg1"/>
                </a:solidFill>
              </a:rPr>
              <a:t>Настройка стартового окна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AEEDFC2F-FF0A-4EC9-A0BB-0AA2B1E6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r>
              <a:rPr lang="ru-RU" dirty="0"/>
              <a:t>Класс </a:t>
            </a:r>
            <a:r>
              <a:rPr lang="en-US" dirty="0"/>
              <a:t>window</a:t>
            </a:r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smtClean="0"/>
              <a:pPr rtl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3598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0115FF41-AFA4-4D25-AB42-AB034F4B4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365" y="997440"/>
            <a:ext cx="6190488" cy="708380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dirty="0"/>
              <a:t>Основные свойства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xmlns="" id="{A8C7C3A0-5E78-49C8-B8D4-F3DF62B2B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r>
              <a:rPr lang="ru-RU" dirty="0"/>
              <a:t>Класс </a:t>
            </a:r>
            <a:r>
              <a:rPr lang="en-US" dirty="0"/>
              <a:t>window</a:t>
            </a:r>
            <a:endParaRPr lang="ru-RU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xmlns="" id="{56AE2454-CE9A-4A6B-AB5A-349E0D96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smtClean="0"/>
              <a:pPr rtl="0"/>
              <a:t>3</a:t>
            </a:fld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BF18ECD-9630-8930-3BF7-DD5B7A736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91" y="1826983"/>
            <a:ext cx="10122875" cy="449969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Icon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представляет иконку.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ResizeMode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задает режим изменения размеров окна. Может принимать следующие значения: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CanMinimize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окно можно только свернуть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NoResize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у окна нельзя изменить начальные размеры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CanResize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у окна можно изменять размеры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CanResizeWithGrip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в правом нижнем углу окна появляется визуализация того, что у окна можно изменять размеры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SizeToContent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позволяет автоматически масштабировать размеры окна в зависимости от содержимого.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автоматически масштабируется только ширина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автоматически масштабируется только высота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WidthAndHeight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автоматически масштабируются высота и ширина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Manual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автоматическое масштабирование отсутствует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Title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заголовок окна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WindowStartupLocation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устанавливает стартовую позицию окна. Может принимать следующие значения: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CenterOwner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окно позиционируется относительно центра запустившего его окна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CenterScreen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окно помещается в центре экрана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Manual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позиция устанавливается вручную с помощью свойств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Verdana" panose="020B0604030504040204" pitchFamily="34" charset="0"/>
              </a:rPr>
              <a:t>Top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 и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Verdana" panose="020B0604030504040204" pitchFamily="34" charset="0"/>
              </a:rPr>
              <a:t>Left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WindowState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состояние окна. Возможные значения: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Maximized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раскрыто на весь экран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Minimized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свернуто</a:t>
            </a:r>
          </a:p>
          <a:p>
            <a:pPr marL="342900" marR="0" lvl="1" indent="1143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Normal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: стандартное состояние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4C6FF323-B917-99AE-E41B-79CBC6F49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791" y="127924"/>
            <a:ext cx="6995171" cy="171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b="1" cap="all" spc="400" dirty="0">
                <a:solidFill>
                  <a:schemeClr val="bg1"/>
                </a:solidFill>
                <a:latin typeface="+mn-lt"/>
              </a:rPr>
              <a:t>РАЗДЕЛЫ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7"/>
            <a:ext cx="5833872" cy="2004590"/>
          </a:xfrm>
        </p:spPr>
        <p:txBody>
          <a:bodyPr rtlCol="0">
            <a:normAutofit/>
          </a:bodyPr>
          <a:lstStyle/>
          <a:p>
            <a:pPr algn="r" rtl="0"/>
            <a:r>
              <a:rPr lang="ru-RU" dirty="0"/>
              <a:t>Класс </a:t>
            </a:r>
            <a:r>
              <a:rPr lang="en-US" dirty="0"/>
              <a:t>Window</a:t>
            </a:r>
            <a:r>
              <a:rPr lang="ru-RU" dirty="0"/>
              <a:t>. Свойства окон</a:t>
            </a:r>
          </a:p>
          <a:p>
            <a:pPr algn="r" rtl="0"/>
            <a:r>
              <a:rPr lang="ru-RU" sz="2800" b="1" dirty="0">
                <a:solidFill>
                  <a:schemeClr val="bg1"/>
                </a:solidFill>
              </a:rPr>
              <a:t>Взаимодействие между окнами</a:t>
            </a:r>
          </a:p>
          <a:p>
            <a:pPr algn="r" rtl="0"/>
            <a:r>
              <a:rPr lang="ru-RU" sz="1800" dirty="0">
                <a:solidFill>
                  <a:schemeClr val="bg1"/>
                </a:solidFill>
              </a:rPr>
              <a:t>Диалоговые окна</a:t>
            </a:r>
          </a:p>
          <a:p>
            <a:pPr algn="r" rtl="0"/>
            <a:r>
              <a:rPr lang="ru-RU" sz="1800" dirty="0">
                <a:solidFill>
                  <a:schemeClr val="bg1"/>
                </a:solidFill>
              </a:rPr>
              <a:t>Настройка стартового окна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smtClean="0"/>
              <a:pPr rtl="0"/>
              <a:t>4</a:t>
            </a:fld>
            <a:endParaRPr lang="ru-RU"/>
          </a:p>
        </p:txBody>
      </p:sp>
      <p:sp>
        <p:nvSpPr>
          <p:cNvPr id="2" name="Нижний колонтитул 7">
            <a:extLst>
              <a:ext uri="{FF2B5EF4-FFF2-40B4-BE49-F238E27FC236}">
                <a16:creationId xmlns:a16="http://schemas.microsoft.com/office/drawing/2014/main" xmlns="" id="{26309C51-46D2-E142-17C3-2D4220E8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/>
          <a:p>
            <a:pPr algn="l" rtl="0"/>
            <a:r>
              <a:rPr lang="ru-RU" dirty="0"/>
              <a:t>Класс </a:t>
            </a:r>
            <a:r>
              <a:rPr lang="en-US" dirty="0"/>
              <a:t>window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384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C09FE488-8F05-DC8A-E2A4-6C2246D7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Взаимодействие между окнами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E99F0138-A7DF-5E2E-931A-8E17C42F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4113494" cy="3346704"/>
          </a:xfrm>
        </p:spPr>
        <p:txBody>
          <a:bodyPr>
            <a:normAutofit/>
          </a:bodyPr>
          <a:lstStyle/>
          <a:p>
            <a:r>
              <a:rPr lang="ru-RU" dirty="0"/>
              <a:t>Переходы между окнами организуются посредством практически любого события.</a:t>
            </a:r>
          </a:p>
          <a:p>
            <a:r>
              <a:rPr lang="ru-RU" dirty="0"/>
              <a:t>Переходы бывают </a:t>
            </a:r>
            <a:r>
              <a:rPr lang="ru-RU" dirty="0">
                <a:solidFill>
                  <a:schemeClr val="accent2"/>
                </a:solidFill>
              </a:rPr>
              <a:t>без параметров и с передачей параметра.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5</a:t>
            </a:fld>
            <a:endParaRPr lang="ru-RU" noProof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52C980F5-0E6B-086A-804B-33D6AA441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6650" y="2201946"/>
            <a:ext cx="5331117" cy="245410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C5EE6260-0782-8D84-B7EA-C49539250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650" y="4841906"/>
            <a:ext cx="5438741" cy="13621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2BB2877-5C31-01E4-1C94-64480D1A9AF4}"/>
              </a:ext>
            </a:extLst>
          </p:cNvPr>
          <p:cNvSpPr txBox="1"/>
          <p:nvPr/>
        </p:nvSpPr>
        <p:spPr>
          <a:xfrm>
            <a:off x="1474237" y="5440945"/>
            <a:ext cx="4099199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Window1 – </a:t>
            </a:r>
            <a:r>
              <a:rPr lang="ru-RU" dirty="0"/>
              <a:t>название формы, куда </a:t>
            </a:r>
          </a:p>
          <a:p>
            <a:r>
              <a:rPr lang="ru-RU" dirty="0"/>
              <a:t>осуществляется переход</a:t>
            </a:r>
          </a:p>
        </p:txBody>
      </p:sp>
      <p:cxnSp>
        <p:nvCxnSpPr>
          <p:cNvPr id="16" name="Соединитель: изогнутый 15">
            <a:extLst>
              <a:ext uri="{FF2B5EF4-FFF2-40B4-BE49-F238E27FC236}">
                <a16:creationId xmlns:a16="http://schemas.microsoft.com/office/drawing/2014/main" xmlns="" id="{DE62C936-A6C7-2769-F2BA-1E727ABB451A}"/>
              </a:ext>
            </a:extLst>
          </p:cNvPr>
          <p:cNvCxnSpPr>
            <a:stCxn id="14" idx="3"/>
          </p:cNvCxnSpPr>
          <p:nvPr/>
        </p:nvCxnSpPr>
        <p:spPr>
          <a:xfrm flipV="1">
            <a:off x="5573436" y="5122506"/>
            <a:ext cx="939331" cy="64160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Нижний колонтитул 9">
            <a:extLst>
              <a:ext uri="{FF2B5EF4-FFF2-40B4-BE49-F238E27FC236}">
                <a16:creationId xmlns:a16="http://schemas.microsoft.com/office/drawing/2014/main" xmlns="" id="{27BD9E3D-3171-BBF5-0800-225F86860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/>
          <a:p>
            <a:pPr algn="l" rtl="0"/>
            <a:r>
              <a:rPr lang="ru-RU" dirty="0"/>
              <a:t>Класс </a:t>
            </a:r>
            <a:r>
              <a:rPr lang="en-US" dirty="0"/>
              <a:t>window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708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C09FE488-8F05-DC8A-E2A4-6C2246D7D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Передача параметра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E99F0138-A7DF-5E2E-931A-8E17C42F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84" y="2860167"/>
            <a:ext cx="4542702" cy="1149778"/>
          </a:xfrm>
        </p:spPr>
        <p:txBody>
          <a:bodyPr>
            <a:normAutofit/>
          </a:bodyPr>
          <a:lstStyle/>
          <a:p>
            <a:r>
              <a:rPr lang="ru-RU" dirty="0"/>
              <a:t>Для передачи параметра на другую форму потребуется внести изменения в конструктор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6</a:t>
            </a:fld>
            <a:endParaRPr lang="ru-RU" noProof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6AE1ECF2-3E1D-2A9F-FC66-A8AFAB28E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6986" y="1227975"/>
            <a:ext cx="5715651" cy="268971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DF8BAC09-3F84-D26C-D78E-8EBDB3334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986" y="4158751"/>
            <a:ext cx="3238952" cy="151468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0FED0C3-28FB-1F40-799C-168A48F3B38B}"/>
              </a:ext>
            </a:extLst>
          </p:cNvPr>
          <p:cNvSpPr txBox="1"/>
          <p:nvPr/>
        </p:nvSpPr>
        <p:spPr>
          <a:xfrm>
            <a:off x="9242229" y="821538"/>
            <a:ext cx="1757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Текущее окно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02FBE10B-EE68-5BE9-AD92-1EACE16A4A8A}"/>
              </a:ext>
            </a:extLst>
          </p:cNvPr>
          <p:cNvSpPr txBox="1"/>
          <p:nvPr/>
        </p:nvSpPr>
        <p:spPr>
          <a:xfrm>
            <a:off x="8465938" y="5357387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Куда переходим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9C44C6A5-C876-C22E-DCAD-5CB18AD5112B}"/>
              </a:ext>
            </a:extLst>
          </p:cNvPr>
          <p:cNvSpPr txBox="1"/>
          <p:nvPr/>
        </p:nvSpPr>
        <p:spPr>
          <a:xfrm>
            <a:off x="7218535" y="2828312"/>
            <a:ext cx="4639412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/>
              <a:t>Внутрь скобок помещаем те значения, </a:t>
            </a:r>
          </a:p>
          <a:p>
            <a:r>
              <a:rPr lang="ru-RU" dirty="0"/>
              <a:t>которые требуется передать (через </a:t>
            </a:r>
          </a:p>
          <a:p>
            <a:r>
              <a:rPr lang="ru-RU" dirty="0"/>
              <a:t>запятую, если их несколько)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FD8E002A-CA39-E356-28DA-7AD5DC4959BE}"/>
              </a:ext>
            </a:extLst>
          </p:cNvPr>
          <p:cNvSpPr txBox="1"/>
          <p:nvPr/>
        </p:nvSpPr>
        <p:spPr>
          <a:xfrm>
            <a:off x="516333" y="4932463"/>
            <a:ext cx="4355157" cy="12003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Перейдем в конструктор второго окна и дописываем в скобках значения и их тип (по умолчанию скобки пустые)</a:t>
            </a:r>
            <a:endParaRPr lang="en-US" dirty="0"/>
          </a:p>
        </p:txBody>
      </p:sp>
      <p:cxnSp>
        <p:nvCxnSpPr>
          <p:cNvPr id="21" name="Соединитель: изогнутый 20">
            <a:extLst>
              <a:ext uri="{FF2B5EF4-FFF2-40B4-BE49-F238E27FC236}">
                <a16:creationId xmlns:a16="http://schemas.microsoft.com/office/drawing/2014/main" xmlns="" id="{FA000662-647E-1289-2F7E-5B323CF98BC9}"/>
              </a:ext>
            </a:extLst>
          </p:cNvPr>
          <p:cNvCxnSpPr/>
          <p:nvPr/>
        </p:nvCxnSpPr>
        <p:spPr>
          <a:xfrm rot="10800000">
            <a:off x="8164287" y="2323322"/>
            <a:ext cx="1373955" cy="5049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Соединитель: изогнутый 22">
            <a:extLst>
              <a:ext uri="{FF2B5EF4-FFF2-40B4-BE49-F238E27FC236}">
                <a16:creationId xmlns:a16="http://schemas.microsoft.com/office/drawing/2014/main" xmlns="" id="{C9FDF31C-E732-E652-C630-0CC786ECEF93}"/>
              </a:ext>
            </a:extLst>
          </p:cNvPr>
          <p:cNvCxnSpPr>
            <a:stCxn id="18" idx="0"/>
          </p:cNvCxnSpPr>
          <p:nvPr/>
        </p:nvCxnSpPr>
        <p:spPr>
          <a:xfrm rot="5400000" flipH="1" flipV="1">
            <a:off x="4773006" y="2315625"/>
            <a:ext cx="537745" cy="469593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Нижний колонтитул 9">
            <a:extLst>
              <a:ext uri="{FF2B5EF4-FFF2-40B4-BE49-F238E27FC236}">
                <a16:creationId xmlns:a16="http://schemas.microsoft.com/office/drawing/2014/main" xmlns="" id="{D96C5412-E59E-1611-2E3B-5393E1A0D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/>
          <a:p>
            <a:pPr algn="l" rtl="0"/>
            <a:r>
              <a:rPr lang="ru-RU" dirty="0"/>
              <a:t>Класс </a:t>
            </a:r>
            <a:r>
              <a:rPr lang="en-US" dirty="0"/>
              <a:t>window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4203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b="1" cap="all" spc="400" dirty="0">
                <a:solidFill>
                  <a:schemeClr val="bg1"/>
                </a:solidFill>
                <a:latin typeface="+mn-lt"/>
              </a:rPr>
              <a:t>РАЗДЕЛЫ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7"/>
            <a:ext cx="5833872" cy="2004590"/>
          </a:xfrm>
        </p:spPr>
        <p:txBody>
          <a:bodyPr rtlCol="0">
            <a:normAutofit/>
          </a:bodyPr>
          <a:lstStyle/>
          <a:p>
            <a:pPr algn="r" rtl="0"/>
            <a:r>
              <a:rPr lang="ru-RU" dirty="0"/>
              <a:t>Класс </a:t>
            </a:r>
            <a:r>
              <a:rPr lang="en-US" dirty="0"/>
              <a:t>Window</a:t>
            </a:r>
            <a:r>
              <a:rPr lang="ru-RU" dirty="0"/>
              <a:t>. Свойства окон</a:t>
            </a:r>
          </a:p>
          <a:p>
            <a:pPr algn="r" rtl="0"/>
            <a:r>
              <a:rPr lang="ru-RU" dirty="0">
                <a:solidFill>
                  <a:schemeClr val="bg1"/>
                </a:solidFill>
              </a:rPr>
              <a:t>Взаимодействие между окнами</a:t>
            </a:r>
          </a:p>
          <a:p>
            <a:pPr algn="r" rtl="0"/>
            <a:r>
              <a:rPr lang="ru-RU" sz="2800" b="1" dirty="0">
                <a:solidFill>
                  <a:schemeClr val="bg1"/>
                </a:solidFill>
              </a:rPr>
              <a:t>Диалоговые окна</a:t>
            </a:r>
          </a:p>
          <a:p>
            <a:pPr algn="r" rtl="0"/>
            <a:r>
              <a:rPr lang="ru-RU" sz="1800" dirty="0">
                <a:solidFill>
                  <a:schemeClr val="bg1"/>
                </a:solidFill>
              </a:rPr>
              <a:t>Настройка стартового окна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smtClean="0"/>
              <a:pPr rtl="0"/>
              <a:t>7</a:t>
            </a:fld>
            <a:endParaRPr lang="ru-RU"/>
          </a:p>
        </p:txBody>
      </p:sp>
      <p:sp>
        <p:nvSpPr>
          <p:cNvPr id="2" name="Нижний колонтитул 7">
            <a:extLst>
              <a:ext uri="{FF2B5EF4-FFF2-40B4-BE49-F238E27FC236}">
                <a16:creationId xmlns:a16="http://schemas.microsoft.com/office/drawing/2014/main" xmlns="" id="{B83436B5-749C-3751-8A39-9B6DAB15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/>
          <a:p>
            <a:pPr algn="l" rtl="0"/>
            <a:r>
              <a:rPr lang="ru-RU" dirty="0"/>
              <a:t>Класс </a:t>
            </a:r>
            <a:r>
              <a:rPr lang="en-US" dirty="0"/>
              <a:t>window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1945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C09FE488-8F05-DC8A-E2A4-6C2246D7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680" y="986917"/>
            <a:ext cx="6190488" cy="727041"/>
          </a:xfrm>
        </p:spPr>
        <p:txBody>
          <a:bodyPr>
            <a:normAutofit fontScale="90000"/>
          </a:bodyPr>
          <a:lstStyle/>
          <a:p>
            <a:r>
              <a:rPr lang="ru-RU" dirty="0"/>
              <a:t>Диалоговые окна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E99F0138-A7DF-5E2E-931A-8E17C42FD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680" y="1843130"/>
            <a:ext cx="4542702" cy="114977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- это вспомогательное окно, </a:t>
            </a:r>
            <a:r>
              <a:rPr lang="ru-RU" b="0" i="0" dirty="0">
                <a:solidFill>
                  <a:srgbClr val="333333"/>
                </a:solidFill>
                <a:effectLst/>
              </a:rPr>
              <a:t>окно, предназначенное для вывода информации и получения ответа от пользователя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8</a:t>
            </a:fld>
            <a:endParaRPr lang="ru-RU" noProof="0"/>
          </a:p>
        </p:txBody>
      </p:sp>
      <p:sp>
        <p:nvSpPr>
          <p:cNvPr id="2" name="Нижний колонтитул 9">
            <a:extLst>
              <a:ext uri="{FF2B5EF4-FFF2-40B4-BE49-F238E27FC236}">
                <a16:creationId xmlns:a16="http://schemas.microsoft.com/office/drawing/2014/main" xmlns="" id="{2C87BD1D-DDD1-EB52-DA7D-98A5300E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/>
          <a:p>
            <a:pPr algn="l" rtl="0"/>
            <a:r>
              <a:rPr lang="ru-RU" dirty="0"/>
              <a:t>Класс </a:t>
            </a:r>
            <a:r>
              <a:rPr lang="en-US" dirty="0"/>
              <a:t>window</a:t>
            </a:r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xmlns="" id="{B88E0F32-EA52-C588-C0CA-6FCA78D9A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620" y="1616418"/>
            <a:ext cx="3362794" cy="140989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3072FAE8-BC6C-BC2C-B57D-6BF80587B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09" y="3315241"/>
            <a:ext cx="4567790" cy="24064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26" name="Соединитель: изогнутый 25">
            <a:extLst>
              <a:ext uri="{FF2B5EF4-FFF2-40B4-BE49-F238E27FC236}">
                <a16:creationId xmlns:a16="http://schemas.microsoft.com/office/drawing/2014/main" xmlns="" id="{95C05EEF-205F-3B52-DC29-7376ED5FE68D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 flipV="1">
            <a:off x="5335699" y="2321367"/>
            <a:ext cx="1536921" cy="219711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8D5C313-4EC1-873E-66D0-5A7ECC59FA4F}"/>
              </a:ext>
            </a:extLst>
          </p:cNvPr>
          <p:cNvSpPr txBox="1"/>
          <p:nvPr/>
        </p:nvSpPr>
        <p:spPr>
          <a:xfrm>
            <a:off x="7800391" y="2828644"/>
            <a:ext cx="3708234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Если введен правильный пароль и нажата кнопка «Вход в роли админа», то:</a:t>
            </a:r>
            <a:endParaRPr lang="en-US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3C0A1FED-449E-0B24-1322-FBDDCA496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0952" y="4029356"/>
            <a:ext cx="4539296" cy="242445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21" name="Соединитель: изогнутый 20">
            <a:extLst>
              <a:ext uri="{FF2B5EF4-FFF2-40B4-BE49-F238E27FC236}">
                <a16:creationId xmlns:a16="http://schemas.microsoft.com/office/drawing/2014/main" xmlns="" id="{EAA019A6-3014-C965-F379-AA4ABC15F2AB}"/>
              </a:ext>
            </a:extLst>
          </p:cNvPr>
          <p:cNvCxnSpPr>
            <a:stCxn id="16" idx="3"/>
            <a:endCxn id="13" idx="3"/>
          </p:cNvCxnSpPr>
          <p:nvPr/>
        </p:nvCxnSpPr>
        <p:spPr>
          <a:xfrm>
            <a:off x="10235414" y="2321367"/>
            <a:ext cx="644834" cy="2920215"/>
          </a:xfrm>
          <a:prstGeom prst="curvedConnector3">
            <a:avLst>
              <a:gd name="adj1" fmla="val 1354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5575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9</a:t>
            </a:fld>
            <a:endParaRPr lang="ru-RU" noProof="0"/>
          </a:p>
        </p:txBody>
      </p:sp>
      <p:sp>
        <p:nvSpPr>
          <p:cNvPr id="2" name="Нижний колонтитул 9">
            <a:extLst>
              <a:ext uri="{FF2B5EF4-FFF2-40B4-BE49-F238E27FC236}">
                <a16:creationId xmlns:a16="http://schemas.microsoft.com/office/drawing/2014/main" xmlns="" id="{2C87BD1D-DDD1-EB52-DA7D-98A5300E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 rtlCol="0"/>
          <a:lstStyle/>
          <a:p>
            <a:pPr algn="l" rtl="0"/>
            <a:r>
              <a:rPr lang="ru-RU" dirty="0"/>
              <a:t>Класс </a:t>
            </a:r>
            <a:r>
              <a:rPr lang="en-US" dirty="0"/>
              <a:t>window</a:t>
            </a:r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DA963E22-2A51-0AB8-5C4E-00AA814F2138}"/>
              </a:ext>
            </a:extLst>
          </p:cNvPr>
          <p:cNvSpPr txBox="1"/>
          <p:nvPr/>
        </p:nvSpPr>
        <p:spPr>
          <a:xfrm>
            <a:off x="4952978" y="986917"/>
            <a:ext cx="1620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Первое окно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66A80622-A2BC-E19F-B730-8C1D24F5257D}"/>
              </a:ext>
            </a:extLst>
          </p:cNvPr>
          <p:cNvSpPr txBox="1"/>
          <p:nvPr/>
        </p:nvSpPr>
        <p:spPr>
          <a:xfrm>
            <a:off x="3988481" y="5871083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Диалоговое окно окно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xmlns="" id="{90E561B0-CA3D-7906-231D-B43535F90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867" y="2659783"/>
            <a:ext cx="5081222" cy="35764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xmlns="" id="{53022D93-7D05-4CE7-8C15-86602FB16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1" y="986917"/>
            <a:ext cx="4401484" cy="32636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xmlns="" id="{03910C67-4A02-55D7-F491-C4584E77C32B}"/>
              </a:ext>
            </a:extLst>
          </p:cNvPr>
          <p:cNvSpPr txBox="1"/>
          <p:nvPr/>
        </p:nvSpPr>
        <p:spPr>
          <a:xfrm>
            <a:off x="4962830" y="1356249"/>
            <a:ext cx="69338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При нажатии на кнопку «Вход под админом» открывается диалоговое окно. </a:t>
            </a:r>
          </a:p>
          <a:p>
            <a:r>
              <a:rPr lang="ru-RU" sz="1200" dirty="0"/>
              <a:t>В нем происходят какие-то действия. Если в диалоговом окне была нажата кнопка, то осуществляется проверка на правильность пароля. Если пароль верный, кнопка на редактирование становится доступной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7E375DF7-59EA-A95A-26F4-628A7844F8B1}"/>
              </a:ext>
            </a:extLst>
          </p:cNvPr>
          <p:cNvSpPr txBox="1"/>
          <p:nvPr/>
        </p:nvSpPr>
        <p:spPr>
          <a:xfrm>
            <a:off x="546936" y="4597695"/>
            <a:ext cx="2434389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Мы обращаемся к глобальному полю диалогового окна</a:t>
            </a:r>
            <a:endParaRPr lang="en-US" dirty="0"/>
          </a:p>
        </p:txBody>
      </p:sp>
      <p:cxnSp>
        <p:nvCxnSpPr>
          <p:cNvPr id="40" name="Соединитель: изогнутый 39">
            <a:extLst>
              <a:ext uri="{FF2B5EF4-FFF2-40B4-BE49-F238E27FC236}">
                <a16:creationId xmlns:a16="http://schemas.microsoft.com/office/drawing/2014/main" xmlns="" id="{F5F9FCB8-9B04-5013-35F6-BC759E943404}"/>
              </a:ext>
            </a:extLst>
          </p:cNvPr>
          <p:cNvCxnSpPr>
            <a:stCxn id="38" idx="3"/>
          </p:cNvCxnSpPr>
          <p:nvPr/>
        </p:nvCxnSpPr>
        <p:spPr>
          <a:xfrm flipH="1" flipV="1">
            <a:off x="1990725" y="1981200"/>
            <a:ext cx="990600" cy="3078160"/>
          </a:xfrm>
          <a:prstGeom prst="curvedConnector4">
            <a:avLst>
              <a:gd name="adj1" fmla="val -23077"/>
              <a:gd name="adj2" fmla="val 574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5937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1DDBBC93-70DF-4E4E-98E3-08124185A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b="1" cap="all" spc="400" dirty="0">
                <a:solidFill>
                  <a:schemeClr val="bg1"/>
                </a:solidFill>
                <a:latin typeface="+mn-lt"/>
              </a:rPr>
              <a:t>РАЗДЕЛЫ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5DE74E9-AA78-46C1-845A-0B72FA8AF3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7"/>
            <a:ext cx="5833872" cy="2004590"/>
          </a:xfrm>
        </p:spPr>
        <p:txBody>
          <a:bodyPr rtlCol="0">
            <a:normAutofit/>
          </a:bodyPr>
          <a:lstStyle/>
          <a:p>
            <a:pPr algn="r" rtl="0"/>
            <a:r>
              <a:rPr lang="ru-RU" dirty="0"/>
              <a:t>Класс </a:t>
            </a:r>
            <a:r>
              <a:rPr lang="en-US" dirty="0"/>
              <a:t>Window</a:t>
            </a:r>
            <a:r>
              <a:rPr lang="ru-RU" dirty="0"/>
              <a:t>. Свойства окон</a:t>
            </a:r>
          </a:p>
          <a:p>
            <a:pPr algn="r" rtl="0"/>
            <a:r>
              <a:rPr lang="ru-RU" dirty="0">
                <a:solidFill>
                  <a:schemeClr val="bg1"/>
                </a:solidFill>
              </a:rPr>
              <a:t>Взаимодействие между окнами</a:t>
            </a:r>
          </a:p>
          <a:p>
            <a:pPr algn="r" rtl="0"/>
            <a:r>
              <a:rPr lang="ru-RU" dirty="0">
                <a:solidFill>
                  <a:schemeClr val="bg1"/>
                </a:solidFill>
              </a:rPr>
              <a:t>Диалоговые окна</a:t>
            </a:r>
          </a:p>
          <a:p>
            <a:pPr algn="r" rtl="0"/>
            <a:r>
              <a:rPr lang="ru-RU" sz="2800" b="1" dirty="0">
                <a:solidFill>
                  <a:schemeClr val="bg1"/>
                </a:solidFill>
              </a:rPr>
              <a:t>Настройка стартового окна</a:t>
            </a: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6DCF8D89-56D9-4E2B-9838-07DFB6E9D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8DA9DAA-006C-4F4B-980E-E3DF019B24E2}" type="slidenum">
              <a:rPr lang="ru-RU" smtClean="0"/>
              <a:pPr rtl="0"/>
              <a:t>10</a:t>
            </a:fld>
            <a:endParaRPr lang="ru-RU"/>
          </a:p>
        </p:txBody>
      </p:sp>
      <p:sp>
        <p:nvSpPr>
          <p:cNvPr id="2" name="Нижний колонтитул 7">
            <a:extLst>
              <a:ext uri="{FF2B5EF4-FFF2-40B4-BE49-F238E27FC236}">
                <a16:creationId xmlns:a16="http://schemas.microsoft.com/office/drawing/2014/main" xmlns="" id="{B83436B5-749C-3751-8A39-9B6DAB159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 rtlCol="0"/>
          <a:lstStyle/>
          <a:p>
            <a:pPr algn="l" rtl="0"/>
            <a:r>
              <a:rPr lang="ru-RU" dirty="0"/>
              <a:t>Класс </a:t>
            </a:r>
            <a:r>
              <a:rPr lang="en-US" dirty="0"/>
              <a:t>window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4485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C09FE488-8F05-DC8A-E2A4-6C2246D7D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002" y="915147"/>
            <a:ext cx="6190488" cy="904323"/>
          </a:xfrm>
        </p:spPr>
        <p:txBody>
          <a:bodyPr>
            <a:normAutofit/>
          </a:bodyPr>
          <a:lstStyle/>
          <a:p>
            <a:r>
              <a:rPr lang="en-US" dirty="0" err="1"/>
              <a:t>App.xaml</a:t>
            </a:r>
            <a:r>
              <a:rPr lang="ru-RU" dirty="0"/>
              <a:t> 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F9C68E2D-BFA7-0BF7-9908-0AFCDF82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D8DA9DAA-006C-4F4B-980E-E3DF019B24E2}" type="slidenum">
              <a:rPr lang="ru-RU" noProof="0" smtClean="0"/>
              <a:pPr rtl="0"/>
              <a:t>11</a:t>
            </a:fld>
            <a:endParaRPr lang="ru-RU" noProof="0"/>
          </a:p>
        </p:txBody>
      </p:sp>
      <p:sp>
        <p:nvSpPr>
          <p:cNvPr id="2" name="Нижний колонтитул 9">
            <a:extLst>
              <a:ext uri="{FF2B5EF4-FFF2-40B4-BE49-F238E27FC236}">
                <a16:creationId xmlns:a16="http://schemas.microsoft.com/office/drawing/2014/main" xmlns="" id="{CC3D014F-4A95-E8F0-4B29-1B2FBB9CFAA3}"/>
              </a:ext>
            </a:extLst>
          </p:cNvPr>
          <p:cNvSpPr txBox="1">
            <a:spLocks/>
          </p:cNvSpPr>
          <p:nvPr/>
        </p:nvSpPr>
        <p:spPr>
          <a:xfrm>
            <a:off x="7924800" y="6249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ru-RU"/>
            </a:defPPr>
            <a:lvl1pPr marL="0" algn="ctr" defTabSz="914400" rtl="0" eaLnBrk="1" latinLnBrk="0" hangingPunct="1">
              <a:defRPr sz="1200" b="1" i="0" kern="1200" cap="all" spc="1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Класс </a:t>
            </a:r>
            <a:r>
              <a:rPr lang="en-US" dirty="0"/>
              <a:t>window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4C4BC7A2-9AA6-E833-4765-55EB8E3E4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002" y="2169697"/>
            <a:ext cx="9766912" cy="22386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1" name="Соединитель: изогнутый 10">
            <a:extLst>
              <a:ext uri="{FF2B5EF4-FFF2-40B4-BE49-F238E27FC236}">
                <a16:creationId xmlns:a16="http://schemas.microsoft.com/office/drawing/2014/main" xmlns="" id="{5360FCF1-1F4E-E6DE-8529-211CB1E18B07}"/>
              </a:ext>
            </a:extLst>
          </p:cNvPr>
          <p:cNvCxnSpPr/>
          <p:nvPr/>
        </p:nvCxnSpPr>
        <p:spPr>
          <a:xfrm rot="10800000">
            <a:off x="4338735" y="3429001"/>
            <a:ext cx="1866122" cy="1618861"/>
          </a:xfrm>
          <a:prstGeom prst="curvedConnector3">
            <a:avLst>
              <a:gd name="adj1" fmla="val 1075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73BCB662-1299-E8E8-3291-2FFFA852EB94}"/>
              </a:ext>
            </a:extLst>
          </p:cNvPr>
          <p:cNvSpPr txBox="1"/>
          <p:nvPr/>
        </p:nvSpPr>
        <p:spPr>
          <a:xfrm>
            <a:off x="6204857" y="4586198"/>
            <a:ext cx="2434389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dirty="0"/>
              <a:t>Записать название нужного окна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2272851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Univers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167182_TF89338750_Win32.potx" id="{1C3AEEAC-0F27-4CFA-8ACD-9680D3AD60AA}" vid="{6E63C9F9-8FC9-48F9-9811-2BE3375EB0FD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BC329F5-30EE-4BF7-AA2A-B837B51416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{403290F4-A720-4D60-B3A4-C5676BFD6DD7}tf89338750_win32</Template>
  <TotalTime>279</TotalTime>
  <Words>431</Words>
  <Application>Microsoft Office PowerPoint</Application>
  <PresentationFormat>Широкоэкранный</PresentationFormat>
  <Paragraphs>93</Paragraphs>
  <Slides>11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Univers</vt:lpstr>
      <vt:lpstr>Verdana</vt:lpstr>
      <vt:lpstr>GradientUnivers</vt:lpstr>
      <vt:lpstr>КЛАСС WINDOW.  Переходы МЕЖДУ ОКНАМИ И ПЕРЕДАЧА ПАРАМЕТРОВ</vt:lpstr>
      <vt:lpstr>РАЗДЕЛЫ</vt:lpstr>
      <vt:lpstr>Основные свойства</vt:lpstr>
      <vt:lpstr>РАЗДЕЛЫ</vt:lpstr>
      <vt:lpstr>Взаимодействие между окнами</vt:lpstr>
      <vt:lpstr>Передача параметра</vt:lpstr>
      <vt:lpstr>РАЗДЕЛЫ</vt:lpstr>
      <vt:lpstr>Диалоговые окна</vt:lpstr>
      <vt:lpstr>Презентация PowerPoint</vt:lpstr>
      <vt:lpstr>РАЗДЕЛЫ</vt:lpstr>
      <vt:lpstr>App.xaml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СОБЫТИЯ</dc:title>
  <dc:creator>Заира Абдухалимова</dc:creator>
  <cp:lastModifiedBy>user05</cp:lastModifiedBy>
  <cp:revision>4</cp:revision>
  <dcterms:created xsi:type="dcterms:W3CDTF">2023-02-24T19:11:06Z</dcterms:created>
  <dcterms:modified xsi:type="dcterms:W3CDTF">2023-10-19T08:20:48Z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