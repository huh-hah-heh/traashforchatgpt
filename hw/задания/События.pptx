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handoutMasterIdLst>
    <p:handoutMasterId r:id="rId20"/>
  </p:handoutMasterIdLst>
  <p:sldIdLst>
    <p:sldId id="306" r:id="rId5"/>
    <p:sldId id="307" r:id="rId6"/>
    <p:sldId id="308" r:id="rId7"/>
    <p:sldId id="310" r:id="rId8"/>
    <p:sldId id="311" r:id="rId9"/>
    <p:sldId id="312" r:id="rId10"/>
    <p:sldId id="314" r:id="rId11"/>
    <p:sldId id="313" r:id="rId12"/>
    <p:sldId id="316" r:id="rId13"/>
    <p:sldId id="317" r:id="rId14"/>
    <p:sldId id="318" r:id="rId15"/>
    <p:sldId id="319" r:id="rId16"/>
    <p:sldId id="320" r:id="rId17"/>
    <p:sldId id="321" r:id="rId1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4967" autoAdjust="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B1B801B-F4B8-459C-A0DB-42C00BB61E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B2DC45-33C8-4ACD-A8B4-824FC0BA71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54181-0B45-450D-B35E-7AF7AACE2E53}" type="datetime1">
              <a:rPr lang="ru-RU" smtClean="0"/>
              <a:t>24.02.2023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B46A40-0BDE-4957-9061-2503F40313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38A883-27AD-4BB1-B0C8-1BEB96FD4C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35BD9-EE19-4F70-92E5-2D59E67BD1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486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435D3A4-2A58-4C50-BCBA-FDFC20DE69E5}" type="datetime1">
              <a:rPr lang="ru-RU" noProof="0" smtClean="0"/>
              <a:t>24.02.2023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305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212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25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112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704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700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с заголовком 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Графический объект 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1" name="Графический объект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3" name="Графический объект 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олько заголовок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Графический объект 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3" name="Графический объект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7" name="Графический объект 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Графический объект 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9" name="Графический объект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раздела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Графический объект 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5" name="Графический объект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6" name="Графический объект 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7" name="Графический объект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1" name="Графический объект 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3" name="Графический объект 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9" name="Графический объект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1" name="Графический объект 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Графический объект 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2" name="Графический объект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Графический объект 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Графический объект 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Графический объект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6" name="Графический объект 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Графический объект 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Графический объект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6" name="Графический объект 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7" name="Объект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0" name="Рисунок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1" name="Рисунок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Графический объект 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0" name="Графический объект 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2" name="Графический объект 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sz="5400" spc="400" dirty="0">
                <a:solidFill>
                  <a:schemeClr val="bg1"/>
                </a:solidFill>
              </a:rPr>
              <a:t>СОБЫТИЯ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4199" y="5437135"/>
            <a:ext cx="5093208" cy="1197864"/>
          </a:xfrm>
        </p:spPr>
        <p:txBody>
          <a:bodyPr rtlCol="0" anchor="b"/>
          <a:lstStyle/>
          <a:p>
            <a:pPr rtl="0"/>
            <a:r>
              <a:rPr lang="ru-RU" sz="2000" dirty="0">
                <a:solidFill>
                  <a:schemeClr val="bg1"/>
                </a:solidFill>
              </a:rPr>
              <a:t>Сафрыгина З.К.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РАЗДЕЛЫ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1174164"/>
          </a:xfrm>
        </p:spPr>
        <p:txBody>
          <a:bodyPr rtlCol="0">
            <a:normAutofit lnSpcReduction="10000"/>
          </a:bodyPr>
          <a:lstStyle/>
          <a:p>
            <a:pPr algn="r" rtl="0"/>
            <a:r>
              <a:rPr lang="ru-RU" sz="2800" b="1" dirty="0"/>
              <a:t>Определение</a:t>
            </a:r>
          </a:p>
          <a:p>
            <a:pPr algn="r" rtl="0"/>
            <a:r>
              <a:rPr lang="ru-RU" dirty="0"/>
              <a:t>События мыши и фокуса</a:t>
            </a:r>
            <a:endParaRPr lang="ru-RU" sz="1800" dirty="0">
              <a:solidFill>
                <a:schemeClr val="bg1"/>
              </a:solidFill>
            </a:endParaRPr>
          </a:p>
          <a:p>
            <a:pPr algn="r" rtl="0"/>
            <a:r>
              <a:rPr lang="ru-RU" dirty="0"/>
              <a:t>События клавиатуры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ru-RU" dirty="0"/>
              <a:t>СОБЫТИЯ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Определение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ru-RU" sz="2000" dirty="0">
                <a:solidFill>
                  <a:schemeClr val="accent2"/>
                </a:solidFill>
              </a:rPr>
              <a:t>Событие</a:t>
            </a:r>
            <a:r>
              <a:rPr lang="ru-RU" sz="2000" dirty="0"/>
              <a:t> – это отклик программы на действия пользователя. </a:t>
            </a:r>
          </a:p>
          <a:p>
            <a:pPr rtl="0"/>
            <a:r>
              <a:rPr lang="ru-RU" dirty="0"/>
              <a:t>События могут быть созданы </a:t>
            </a:r>
            <a:r>
              <a:rPr lang="ru-RU" dirty="0">
                <a:solidFill>
                  <a:schemeClr val="accent2"/>
                </a:solidFill>
              </a:rPr>
              <a:t>при помощи языка разметки </a:t>
            </a:r>
            <a:r>
              <a:rPr lang="en-US" dirty="0">
                <a:solidFill>
                  <a:schemeClr val="accent2"/>
                </a:solidFill>
              </a:rPr>
              <a:t>XAML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или </a:t>
            </a:r>
            <a:r>
              <a:rPr lang="ru-RU" dirty="0">
                <a:solidFill>
                  <a:schemeClr val="accent2"/>
                </a:solidFill>
              </a:rPr>
              <a:t>прописаны в файле логики на языке </a:t>
            </a:r>
            <a:r>
              <a:rPr lang="en-US" dirty="0" err="1">
                <a:solidFill>
                  <a:schemeClr val="accent2"/>
                </a:solidFill>
              </a:rPr>
              <a:t>c#</a:t>
            </a:r>
            <a:endParaRPr lang="ru-RU" sz="2000" dirty="0">
              <a:solidFill>
                <a:schemeClr val="accent2"/>
              </a:solidFill>
            </a:endParaRPr>
          </a:p>
          <a:p>
            <a:pPr rtl="0"/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ru-RU" dirty="0"/>
              <a:t>события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Определение в </a:t>
            </a:r>
            <a:r>
              <a:rPr lang="en-US" dirty="0"/>
              <a:t>XAML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9F0138-A7DF-5E2E-931A-8E17C42F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4113494" cy="334670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События в редакторе </a:t>
            </a:r>
            <a:r>
              <a:rPr lang="en-US" dirty="0"/>
              <a:t>XAML</a:t>
            </a:r>
            <a:r>
              <a:rPr lang="ru-RU" dirty="0"/>
              <a:t> прописываются совместно с обычными свойствами элемента.</a:t>
            </a:r>
          </a:p>
          <a:p>
            <a:r>
              <a:rPr lang="ru-RU" dirty="0"/>
              <a:t>При создании события подсказчик предложит привязать к элементу уже существующее событие или создать новое.</a:t>
            </a:r>
          </a:p>
          <a:p>
            <a:r>
              <a:rPr lang="ru-RU" dirty="0"/>
              <a:t>Для правильного создания события не </a:t>
            </a:r>
            <a:r>
              <a:rPr lang="ru-RU" dirty="0">
                <a:solidFill>
                  <a:schemeClr val="accent2"/>
                </a:solidFill>
              </a:rPr>
              <a:t>забывайте указывать имя элемента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4</a:t>
            </a:fld>
            <a:endParaRPr lang="ru-RU" noProof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06C6E1-B0C3-E098-1F78-70CA8E93E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729" y="2270130"/>
            <a:ext cx="5753903" cy="7240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448C1BE-61DC-28DE-22E6-3E166FBBA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648" y="3244317"/>
            <a:ext cx="5749984" cy="27516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9708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Определение в файле логики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9F0138-A7DF-5E2E-931A-8E17C42F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4113494" cy="324382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Элемент должен быть уже создан в </a:t>
            </a:r>
            <a:r>
              <a:rPr lang="en-US" dirty="0"/>
              <a:t>XAML</a:t>
            </a:r>
            <a:r>
              <a:rPr lang="ru-RU" dirty="0"/>
              <a:t> и ему задано имя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.Click </a:t>
            </a:r>
            <a:r>
              <a:rPr lang="ru-RU" dirty="0"/>
              <a:t>– тип события (в данном случае Нажатие на кнопку)</a:t>
            </a:r>
          </a:p>
          <a:p>
            <a:r>
              <a:rPr lang="en-US" dirty="0">
                <a:solidFill>
                  <a:schemeClr val="accent2"/>
                </a:solidFill>
              </a:rPr>
              <a:t>Button1_Click </a:t>
            </a:r>
            <a:r>
              <a:rPr lang="en-US" dirty="0"/>
              <a:t>– </a:t>
            </a:r>
            <a:r>
              <a:rPr lang="ru-RU" dirty="0"/>
              <a:t>название обработчика события (можно свое название)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5</a:t>
            </a:fld>
            <a:endParaRPr lang="ru-RU" noProof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963CE8-1A1C-E5C0-0207-4A37CD02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974" y="2609572"/>
            <a:ext cx="5882953" cy="27912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C6D904-17F0-6470-F0B8-D1E85C888EF4}"/>
              </a:ext>
            </a:extLst>
          </p:cNvPr>
          <p:cNvSpPr txBox="1"/>
          <p:nvPr/>
        </p:nvSpPr>
        <p:spPr>
          <a:xfrm>
            <a:off x="7623110" y="1260885"/>
            <a:ext cx="3937296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Обработчик добавляется</a:t>
            </a:r>
          </a:p>
          <a:p>
            <a:r>
              <a:rPr lang="en-US" dirty="0"/>
              <a:t>c</a:t>
            </a:r>
            <a:r>
              <a:rPr lang="ru-RU" dirty="0"/>
              <a:t>разу после </a:t>
            </a:r>
            <a:r>
              <a:rPr lang="en-US" dirty="0"/>
              <a:t>InitializeComponent()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F4AA79-D902-FD03-F8FD-00D37E757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974" y="2154855"/>
            <a:ext cx="4791744" cy="3048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4" name="Соединитель: изогнутый 13">
            <a:extLst>
              <a:ext uri="{FF2B5EF4-FFF2-40B4-BE49-F238E27FC236}">
                <a16:creationId xmlns:a16="http://schemas.microsoft.com/office/drawing/2014/main" id="{6024B450-8CFD-5AB2-A234-A5DCAB43868D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9293290" y="1584051"/>
            <a:ext cx="2267116" cy="2064218"/>
          </a:xfrm>
          <a:prstGeom prst="curvedConnector3">
            <a:avLst>
              <a:gd name="adj1" fmla="val -100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0181395-E4BE-95D2-3DCD-43A9A953EB65}"/>
              </a:ext>
            </a:extLst>
          </p:cNvPr>
          <p:cNvSpPr txBox="1"/>
          <p:nvPr/>
        </p:nvSpPr>
        <p:spPr>
          <a:xfrm>
            <a:off x="5972982" y="5710019"/>
            <a:ext cx="4273927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Вот это все пишете самостоятельно</a:t>
            </a:r>
          </a:p>
        </p:txBody>
      </p:sp>
      <p:cxnSp>
        <p:nvCxnSpPr>
          <p:cNvPr id="19" name="Соединитель: изогнутый 18">
            <a:extLst>
              <a:ext uri="{FF2B5EF4-FFF2-40B4-BE49-F238E27FC236}">
                <a16:creationId xmlns:a16="http://schemas.microsoft.com/office/drawing/2014/main" id="{7C19BBFD-3C58-BC85-E33F-8ACB64055228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H="1">
            <a:off x="5972982" y="4618653"/>
            <a:ext cx="123018" cy="1276032"/>
          </a:xfrm>
          <a:prstGeom prst="curvedConnector4">
            <a:avLst>
              <a:gd name="adj1" fmla="val -185826"/>
              <a:gd name="adj2" fmla="val 1011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20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904323"/>
          </a:xfrm>
        </p:spPr>
        <p:txBody>
          <a:bodyPr>
            <a:normAutofit/>
          </a:bodyPr>
          <a:lstStyle/>
          <a:p>
            <a:r>
              <a:rPr lang="ru-RU" dirty="0"/>
              <a:t>Обработчик 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6</a:t>
            </a:fld>
            <a:endParaRPr lang="ru-RU" noProof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963CE8-1A1C-E5C0-0207-4A37CD022A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956"/>
          <a:stretch/>
        </p:blipFill>
        <p:spPr>
          <a:xfrm>
            <a:off x="3154523" y="3429000"/>
            <a:ext cx="5882953" cy="10060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6C5151-5CAA-E9C9-916D-29F5EBE46418}"/>
              </a:ext>
            </a:extLst>
          </p:cNvPr>
          <p:cNvSpPr txBox="1"/>
          <p:nvPr/>
        </p:nvSpPr>
        <p:spPr>
          <a:xfrm>
            <a:off x="1166325" y="2538866"/>
            <a:ext cx="913262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это параметр, в котором находится ссылка на объект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вызвавший событие</a:t>
            </a:r>
            <a:endParaRPr lang="ru-RU" dirty="0"/>
          </a:p>
        </p:txBody>
      </p: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DC560ACA-4D4D-5068-0E1D-012A77CB86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31599" y="3024506"/>
            <a:ext cx="594384" cy="3545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DF5D0A-4322-2B64-F4A4-526FE5AB74E6}"/>
              </a:ext>
            </a:extLst>
          </p:cNvPr>
          <p:cNvSpPr txBox="1"/>
          <p:nvPr/>
        </p:nvSpPr>
        <p:spPr>
          <a:xfrm>
            <a:off x="1166325" y="5014922"/>
            <a:ext cx="1042625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это специфическая информация, которую потом можно использовать при обработке</a:t>
            </a:r>
            <a:endParaRPr lang="ru-RU" dirty="0"/>
          </a:p>
        </p:txBody>
      </p:sp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8B5CEECD-981B-C9C7-9979-CD3B54821466}"/>
              </a:ext>
            </a:extLst>
          </p:cNvPr>
          <p:cNvCxnSpPr/>
          <p:nvPr/>
        </p:nvCxnSpPr>
        <p:spPr>
          <a:xfrm rot="5400000" flipH="1" flipV="1">
            <a:off x="7031131" y="4081629"/>
            <a:ext cx="1338661" cy="5279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27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РАЗДЕЛЫ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1174164"/>
          </a:xfrm>
        </p:spPr>
        <p:txBody>
          <a:bodyPr rtlCol="0">
            <a:normAutofit lnSpcReduction="10000"/>
          </a:bodyPr>
          <a:lstStyle/>
          <a:p>
            <a:pPr algn="r" rtl="0"/>
            <a:r>
              <a:rPr lang="ru-RU" dirty="0"/>
              <a:t>Определение</a:t>
            </a:r>
          </a:p>
          <a:p>
            <a:pPr algn="r" rtl="0"/>
            <a:r>
              <a:rPr lang="ru-RU" sz="2800" b="1" dirty="0"/>
              <a:t>События мыши и фокуса</a:t>
            </a:r>
            <a:endParaRPr lang="ru-RU" sz="2800" b="1" dirty="0">
              <a:solidFill>
                <a:schemeClr val="bg1"/>
              </a:solidFill>
            </a:endParaRPr>
          </a:p>
          <a:p>
            <a:pPr algn="r" rtl="0"/>
            <a:r>
              <a:rPr lang="ru-RU" dirty="0"/>
              <a:t>События клавиатуры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ru-RU" dirty="0"/>
              <a:t>СОБЫТИЯ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19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80" y="1169211"/>
            <a:ext cx="8059410" cy="829678"/>
          </a:xfrm>
        </p:spPr>
        <p:txBody>
          <a:bodyPr>
            <a:normAutofit fontScale="90000"/>
          </a:bodyPr>
          <a:lstStyle/>
          <a:p>
            <a:r>
              <a:rPr lang="ru-RU" dirty="0"/>
              <a:t>События мыши</a:t>
            </a:r>
            <a:r>
              <a:rPr lang="en-US" dirty="0"/>
              <a:t> </a:t>
            </a:r>
            <a:r>
              <a:rPr lang="ru-RU" dirty="0"/>
              <a:t>/ фокуса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8</a:t>
            </a:fld>
            <a:endParaRPr lang="ru-RU" noProof="0"/>
          </a:p>
        </p:txBody>
      </p:sp>
      <p:graphicFrame>
        <p:nvGraphicFramePr>
          <p:cNvPr id="13" name="Таблица 14">
            <a:extLst>
              <a:ext uri="{FF2B5EF4-FFF2-40B4-BE49-F238E27FC236}">
                <a16:creationId xmlns:a16="http://schemas.microsoft.com/office/drawing/2014/main" id="{2AD5ADBB-4B3C-E99E-C7D4-A7B7E5E8F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611480"/>
              </p:ext>
            </p:extLst>
          </p:nvPr>
        </p:nvGraphicFramePr>
        <p:xfrm>
          <a:off x="664714" y="2236470"/>
          <a:ext cx="543128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442">
                  <a:extLst>
                    <a:ext uri="{9D8B030D-6E8A-4147-A177-3AD203B41FA5}">
                      <a16:colId xmlns:a16="http://schemas.microsoft.com/office/drawing/2014/main" val="954574268"/>
                    </a:ext>
                  </a:extLst>
                </a:gridCol>
                <a:gridCol w="3549844">
                  <a:extLst>
                    <a:ext uri="{9D8B030D-6E8A-4147-A177-3AD203B41FA5}">
                      <a16:colId xmlns:a16="http://schemas.microsoft.com/office/drawing/2014/main" val="2935917327"/>
                    </a:ext>
                  </a:extLst>
                </a:gridCol>
              </a:tblGrid>
              <a:tr h="310751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68522"/>
                  </a:ext>
                </a:extLst>
              </a:tr>
              <a:tr h="766236">
                <a:tc>
                  <a:txBody>
                    <a:bodyPr/>
                    <a:lstStyle/>
                    <a:p>
                      <a:r>
                        <a:rPr lang="en-US" dirty="0" err="1"/>
                        <a:t>MouseEnter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вхождении указателя мыши в пределы границ элемента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93798"/>
                  </a:ext>
                </a:extLst>
              </a:tr>
              <a:tr h="766236">
                <a:tc>
                  <a:txBody>
                    <a:bodyPr/>
                    <a:lstStyle/>
                    <a:p>
                      <a:r>
                        <a:rPr lang="en-US" dirty="0" err="1"/>
                        <a:t>MouseLeave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Возникает при покидании указателя мыши пределов границ элемента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997610"/>
                  </a:ext>
                </a:extLst>
              </a:tr>
              <a:tr h="536365">
                <a:tc>
                  <a:txBody>
                    <a:bodyPr/>
                    <a:lstStyle/>
                    <a:p>
                      <a:r>
                        <a:rPr lang="en-US" dirty="0" err="1"/>
                        <a:t>MouseDown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нажатии кнопкой мыши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508188"/>
                  </a:ext>
                </a:extLst>
              </a:tr>
              <a:tr h="536365">
                <a:tc>
                  <a:txBody>
                    <a:bodyPr/>
                    <a:lstStyle/>
                    <a:p>
                      <a:r>
                        <a:rPr lang="en-US" dirty="0" err="1"/>
                        <a:t>MouseUp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отпускании кнопки мыши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486419"/>
                  </a:ext>
                </a:extLst>
              </a:tr>
              <a:tr h="536365">
                <a:tc>
                  <a:txBody>
                    <a:bodyPr/>
                    <a:lstStyle/>
                    <a:p>
                      <a:r>
                        <a:rPr lang="en-US" dirty="0" err="1"/>
                        <a:t>MouseMove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передвижении указателя мыши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966963"/>
                  </a:ext>
                </a:extLst>
              </a:tr>
            </a:tbl>
          </a:graphicData>
        </a:graphic>
      </p:graphicFrame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5A17E3E5-856D-9C2E-5F11-09E68E00337E}"/>
              </a:ext>
            </a:extLst>
          </p:cNvPr>
          <p:cNvCxnSpPr/>
          <p:nvPr/>
        </p:nvCxnSpPr>
        <p:spPr>
          <a:xfrm>
            <a:off x="6435323" y="2425960"/>
            <a:ext cx="0" cy="4086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Таблица 14">
            <a:extLst>
              <a:ext uri="{FF2B5EF4-FFF2-40B4-BE49-F238E27FC236}">
                <a16:creationId xmlns:a16="http://schemas.microsoft.com/office/drawing/2014/main" id="{F9037C89-98D8-21EA-B5EC-CF0EAD934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607501"/>
              </p:ext>
            </p:extLst>
          </p:nvPr>
        </p:nvGraphicFramePr>
        <p:xfrm>
          <a:off x="6774647" y="2236470"/>
          <a:ext cx="440180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822">
                  <a:extLst>
                    <a:ext uri="{9D8B030D-6E8A-4147-A177-3AD203B41FA5}">
                      <a16:colId xmlns:a16="http://schemas.microsoft.com/office/drawing/2014/main" val="954574268"/>
                    </a:ext>
                  </a:extLst>
                </a:gridCol>
                <a:gridCol w="2876985">
                  <a:extLst>
                    <a:ext uri="{9D8B030D-6E8A-4147-A177-3AD203B41FA5}">
                      <a16:colId xmlns:a16="http://schemas.microsoft.com/office/drawing/2014/main" val="2935917327"/>
                    </a:ext>
                  </a:extLst>
                </a:gridCol>
              </a:tblGrid>
              <a:tr h="269793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68522"/>
                  </a:ext>
                </a:extLst>
              </a:tr>
              <a:tr h="472138">
                <a:tc>
                  <a:txBody>
                    <a:bodyPr/>
                    <a:lstStyle/>
                    <a:p>
                      <a:r>
                        <a:rPr lang="en-US" dirty="0" err="1"/>
                        <a:t>GotFocus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получении элементом фокуса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93798"/>
                  </a:ext>
                </a:extLst>
              </a:tr>
              <a:tr h="472138">
                <a:tc>
                  <a:txBody>
                    <a:bodyPr/>
                    <a:lstStyle/>
                    <a:p>
                      <a:r>
                        <a:rPr lang="en-US" dirty="0" err="1"/>
                        <a:t>LostFocus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Возникает при потере элементом фокуса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997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97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14" y="986917"/>
            <a:ext cx="6190488" cy="1067259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9</a:t>
            </a:fld>
            <a:endParaRPr lang="ru-RU" noProof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4885F4-5BC7-9253-93CD-A4FB31B2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84" y="2435073"/>
            <a:ext cx="4877656" cy="39944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D28E60-8D8F-10C9-DF2E-5493E78307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40" t="13316" r="7266" b="18426"/>
          <a:stretch/>
        </p:blipFill>
        <p:spPr>
          <a:xfrm>
            <a:off x="6002044" y="999760"/>
            <a:ext cx="3802413" cy="15892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2AFCE45-FD0B-C24D-4996-E7E6AAC50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044" y="2695816"/>
            <a:ext cx="4754683" cy="36605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744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РАЗДЕЛЫ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1174164"/>
          </a:xfrm>
        </p:spPr>
        <p:txBody>
          <a:bodyPr rtlCol="0">
            <a:normAutofit lnSpcReduction="10000"/>
          </a:bodyPr>
          <a:lstStyle/>
          <a:p>
            <a:pPr algn="r" rtl="0"/>
            <a:r>
              <a:rPr lang="ru-RU" dirty="0"/>
              <a:t>Определение</a:t>
            </a:r>
          </a:p>
          <a:p>
            <a:pPr algn="r" rtl="0"/>
            <a:r>
              <a:rPr lang="ru-RU" dirty="0"/>
              <a:t>События мыши и фокуса</a:t>
            </a:r>
            <a:endParaRPr lang="ru-RU" dirty="0">
              <a:solidFill>
                <a:schemeClr val="bg1"/>
              </a:solidFill>
            </a:endParaRPr>
          </a:p>
          <a:p>
            <a:pPr algn="r" rtl="0"/>
            <a:r>
              <a:rPr lang="ru-RU" sz="2800" b="1" dirty="0"/>
              <a:t>События клавиатуры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ru-RU" dirty="0"/>
              <a:t>СОБЫТИЯ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27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80" y="1169211"/>
            <a:ext cx="8059410" cy="829678"/>
          </a:xfrm>
        </p:spPr>
        <p:txBody>
          <a:bodyPr>
            <a:normAutofit fontScale="90000"/>
          </a:bodyPr>
          <a:lstStyle/>
          <a:p>
            <a:r>
              <a:rPr lang="ru-RU" dirty="0"/>
              <a:t>События клавиатуры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11</a:t>
            </a:fld>
            <a:endParaRPr lang="ru-RU" noProof="0"/>
          </a:p>
        </p:txBody>
      </p:sp>
      <p:graphicFrame>
        <p:nvGraphicFramePr>
          <p:cNvPr id="13" name="Таблица 14">
            <a:extLst>
              <a:ext uri="{FF2B5EF4-FFF2-40B4-BE49-F238E27FC236}">
                <a16:creationId xmlns:a16="http://schemas.microsoft.com/office/drawing/2014/main" id="{2AD5ADBB-4B3C-E99E-C7D4-A7B7E5E8F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54901"/>
              </p:ext>
            </p:extLst>
          </p:nvPr>
        </p:nvGraphicFramePr>
        <p:xfrm>
          <a:off x="776680" y="2423082"/>
          <a:ext cx="6202618" cy="253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909">
                  <a:extLst>
                    <a:ext uri="{9D8B030D-6E8A-4147-A177-3AD203B41FA5}">
                      <a16:colId xmlns:a16="http://schemas.microsoft.com/office/drawing/2014/main" val="954574268"/>
                    </a:ext>
                  </a:extLst>
                </a:gridCol>
                <a:gridCol w="3635709">
                  <a:extLst>
                    <a:ext uri="{9D8B030D-6E8A-4147-A177-3AD203B41FA5}">
                      <a16:colId xmlns:a16="http://schemas.microsoft.com/office/drawing/2014/main" val="2935917327"/>
                    </a:ext>
                  </a:extLst>
                </a:gridCol>
              </a:tblGrid>
              <a:tr h="310751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68522"/>
                  </a:ext>
                </a:extLst>
              </a:tr>
              <a:tr h="766236">
                <a:tc>
                  <a:txBody>
                    <a:bodyPr/>
                    <a:lstStyle/>
                    <a:p>
                      <a:r>
                        <a:rPr lang="en-US" dirty="0" err="1"/>
                        <a:t>KeyDown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нажатии на клавишу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93798"/>
                  </a:ext>
                </a:extLst>
              </a:tr>
              <a:tr h="766236">
                <a:tc>
                  <a:txBody>
                    <a:bodyPr/>
                    <a:lstStyle/>
                    <a:p>
                      <a:r>
                        <a:rPr lang="en-US" dirty="0" err="1"/>
                        <a:t>KeyUp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Возникает при освобождении клавиши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997610"/>
                  </a:ext>
                </a:extLst>
              </a:tr>
              <a:tr h="536365">
                <a:tc>
                  <a:txBody>
                    <a:bodyPr/>
                    <a:lstStyle/>
                    <a:p>
                      <a:r>
                        <a:rPr lang="en-US" dirty="0" err="1"/>
                        <a:t>PreviewTextInput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получении элементом текстового ввода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508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59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14" y="986917"/>
            <a:ext cx="6190488" cy="1067259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12</a:t>
            </a:fld>
            <a:endParaRPr lang="ru-RU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693BF-E26C-4C45-684E-AED99C842156}"/>
              </a:ext>
            </a:extLst>
          </p:cNvPr>
          <p:cNvSpPr txBox="1"/>
          <p:nvPr/>
        </p:nvSpPr>
        <p:spPr>
          <a:xfrm>
            <a:off x="744809" y="4670754"/>
            <a:ext cx="6594502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Если в поле «логин» было нажатие на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Enter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, фокус передается полю «пароль»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Если было одновременно нажато «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Alt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 +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Enter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», то кнопка «Войти» становится неактивной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E0C9D9E-8D3E-2F41-5504-E8C7BE9E2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09" y="2271512"/>
            <a:ext cx="6274614" cy="21548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733181-FD46-8B5A-EF29-13ECC5D3834B}"/>
              </a:ext>
            </a:extLst>
          </p:cNvPr>
          <p:cNvSpPr txBox="1"/>
          <p:nvPr/>
        </p:nvSpPr>
        <p:spPr>
          <a:xfrm>
            <a:off x="7964424" y="2271512"/>
            <a:ext cx="3291466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KeyboardDevice.Modifiers: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Ctrl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759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бонус</a:t>
            </a:r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ru-RU" dirty="0"/>
              <a:t>СОБЫТИЯ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61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80" y="1169211"/>
            <a:ext cx="8059410" cy="829678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таймера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075DA-1085-6856-5449-95CEE341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ru-RU" dirty="0"/>
              <a:t>события</a:t>
            </a:r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14</a:t>
            </a:fld>
            <a:endParaRPr lang="ru-RU" noProof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318C43-EBCE-2C24-3020-5AF27E129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80" y="2809015"/>
            <a:ext cx="6697141" cy="31237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56B58-6EC9-E796-6578-CE6365344656}"/>
              </a:ext>
            </a:extLst>
          </p:cNvPr>
          <p:cNvSpPr txBox="1"/>
          <p:nvPr/>
        </p:nvSpPr>
        <p:spPr>
          <a:xfrm>
            <a:off x="776680" y="2256608"/>
            <a:ext cx="6106884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System.Windows.Threading;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E1883-5A46-C940-7776-A00C106BBFA7}"/>
              </a:ext>
            </a:extLst>
          </p:cNvPr>
          <p:cNvSpPr txBox="1"/>
          <p:nvPr/>
        </p:nvSpPr>
        <p:spPr>
          <a:xfrm>
            <a:off x="7641772" y="5009439"/>
            <a:ext cx="4031506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ru-RU" dirty="0"/>
              <a:t>Обработчик </a:t>
            </a:r>
            <a:r>
              <a:rPr lang="en-US" dirty="0" err="1"/>
              <a:t>Timer_Tick</a:t>
            </a:r>
            <a:r>
              <a:rPr lang="en-US" dirty="0"/>
              <a:t> – </a:t>
            </a:r>
            <a:r>
              <a:rPr lang="ru-RU" dirty="0"/>
              <a:t>возникает при истечении работы таймера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1B4CD-FCBA-CA8B-0020-1757A9A12DFA}"/>
              </a:ext>
            </a:extLst>
          </p:cNvPr>
          <p:cNvSpPr txBox="1"/>
          <p:nvPr/>
        </p:nvSpPr>
        <p:spPr>
          <a:xfrm>
            <a:off x="7641772" y="2809015"/>
            <a:ext cx="4031506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Interval</a:t>
            </a:r>
            <a:r>
              <a:rPr lang="ru-RU" dirty="0"/>
              <a:t> – время действия таймера</a:t>
            </a:r>
          </a:p>
          <a:p>
            <a:r>
              <a:rPr lang="ru-RU" dirty="0"/>
              <a:t>(часы, минуты, секунды)</a:t>
            </a:r>
          </a:p>
        </p:txBody>
      </p:sp>
      <p:cxnSp>
        <p:nvCxnSpPr>
          <p:cNvPr id="12" name="Соединитель: изогнутый 11">
            <a:extLst>
              <a:ext uri="{FF2B5EF4-FFF2-40B4-BE49-F238E27FC236}">
                <a16:creationId xmlns:a16="http://schemas.microsoft.com/office/drawing/2014/main" id="{BB86528A-DE23-8671-3A76-A3176BC4FC45}"/>
              </a:ext>
            </a:extLst>
          </p:cNvPr>
          <p:cNvCxnSpPr>
            <a:stCxn id="9" idx="1"/>
          </p:cNvCxnSpPr>
          <p:nvPr/>
        </p:nvCxnSpPr>
        <p:spPr>
          <a:xfrm rot="10800000">
            <a:off x="5038532" y="5402424"/>
            <a:ext cx="2603241" cy="686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Соединитель: изогнутый 14">
            <a:extLst>
              <a:ext uri="{FF2B5EF4-FFF2-40B4-BE49-F238E27FC236}">
                <a16:creationId xmlns:a16="http://schemas.microsoft.com/office/drawing/2014/main" id="{E550F064-5434-E5AD-2706-79445107109A}"/>
              </a:ext>
            </a:extLst>
          </p:cNvPr>
          <p:cNvCxnSpPr>
            <a:stCxn id="10" idx="1"/>
          </p:cNvCxnSpPr>
          <p:nvPr/>
        </p:nvCxnSpPr>
        <p:spPr>
          <a:xfrm rot="10800000" flipV="1">
            <a:off x="4432042" y="3132181"/>
            <a:ext cx="3209731" cy="8146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86772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2_TF89338750_Win32.potx" id="{1C3AEEAC-0F27-4CFA-8ACD-9680D3AD60AA}" vid="{6E63C9F9-8FC9-48F9-9811-2BE3375EB0F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{403290F4-A720-4D60-B3A4-C5676BFD6DD7}tf89338750_win32</Template>
  <TotalTime>124</TotalTime>
  <Words>355</Words>
  <Application>Microsoft Office PowerPoint</Application>
  <PresentationFormat>Широкоэкранный</PresentationFormat>
  <Paragraphs>106</Paragraphs>
  <Slides>14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Univers</vt:lpstr>
      <vt:lpstr>verdana</vt:lpstr>
      <vt:lpstr>GradientUnivers</vt:lpstr>
      <vt:lpstr>СОБЫТИЯ</vt:lpstr>
      <vt:lpstr>РАЗДЕЛЫ</vt:lpstr>
      <vt:lpstr>Определение</vt:lpstr>
      <vt:lpstr>Определение в XAML</vt:lpstr>
      <vt:lpstr>Определение в файле логики</vt:lpstr>
      <vt:lpstr>Обработчик </vt:lpstr>
      <vt:lpstr>РАЗДЕЛЫ</vt:lpstr>
      <vt:lpstr>События мыши / фокуса</vt:lpstr>
      <vt:lpstr>Пример</vt:lpstr>
      <vt:lpstr>РАЗДЕЛЫ</vt:lpstr>
      <vt:lpstr>События клавиатуры</vt:lpstr>
      <vt:lpstr>Пример</vt:lpstr>
      <vt:lpstr>бонус</vt:lpstr>
      <vt:lpstr>Реализация таймера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СОБЫТИЯ</dc:title>
  <dc:creator>Заира Абдухалимова</dc:creator>
  <cp:lastModifiedBy>Заира Абдухалимова</cp:lastModifiedBy>
  <cp:revision>1</cp:revision>
  <dcterms:created xsi:type="dcterms:W3CDTF">2023-02-24T19:11:06Z</dcterms:created>
  <dcterms:modified xsi:type="dcterms:W3CDTF">2023-02-24T21:16:04Z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