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comments/comment10.xml" ContentType="application/vnd.openxmlformats-officedocument.presentationml.comment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5.jpeg" ContentType="image/jpeg"/>
  <Override PartName="/ppt/media/image4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_rels/presentation.xml.rels" ContentType="application/vnd.openxmlformats-package.relationship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leo has" initials="l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<Relationship Id="rId17" Type="http://schemas.openxmlformats.org/officeDocument/2006/relationships/commentAuthors" Target="commentAuthors.xml"/>
</Relationships>
</file>

<file path=ppt/comments/comment10.xml><?xml version="1.0" encoding="utf-8"?>
<p:cmLst xmlns:p="http://schemas.openxmlformats.org/presentationml/2006/main">
  <p:cm authorId="0" dt="2026-09-30T14:23:08.603000000" idx="1">
    <p:pos x="4319" y="360"/>
    <p:text/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A8BA1-9924-4277-BC01-DD1C16C01F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972B36-CF6E-4F5A-B796-32810E7FC5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DC4F0-B582-4CCA-99DC-EF7DAFE252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E83C9-6AE4-4A6C-9952-C0588613A6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20CAB-6F32-4218-AA25-88817E5D18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EED3C0-FEE6-45C1-A171-33C0349CCB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45B883-3D14-4C1C-84FA-4FB6759EB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31B64-7432-4509-A569-59943765FC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DEDD0C-E7B0-4A5B-8041-31A084E602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3954D-2E15-4EC2-837F-D8DCCD09D5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CDE682-A380-4F41-8885-C00B7FBE60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AABCA8-46AA-4552-B9DE-D9D1D1ABD2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E10BBF-B929-412C-B437-02A7A370E1F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slideLayout" Target="../slideLayouts/slideLayout1.xml"/><Relationship Id="rId8" Type="http://schemas.openxmlformats.org/officeDocument/2006/relationships/comments" Target="../comments/commen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640080" y="914400"/>
            <a:ext cx="5486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800" spc="-1" strike="noStrike">
                <a:solidFill>
                  <a:srgbClr val="f4f6f8"/>
                </a:solidFill>
                <a:latin typeface="Inter"/>
              </a:rPr>
              <a:t>BOOKREADER</a:t>
            </a:r>
            <a:endParaRPr b="0" lang="ru-RU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640080" y="1600200"/>
            <a:ext cx="5028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3498f5"/>
                </a:solidFill>
                <a:latin typeface="Inter"/>
              </a:rPr>
              <a:t>Практическая работа №14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640080" y="1965960"/>
            <a:ext cx="65833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4f6f8"/>
                </a:solidFill>
                <a:latin typeface="Inter"/>
              </a:rPr>
              <a:t>Разработка логотипа для проекта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640080" y="2834640"/>
            <a:ext cx="6583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9aa4b2"/>
                </a:solidFill>
                <a:latin typeface="Inter"/>
              </a:rPr>
              <a:t>От анализа и ассоциаций до финального знака и проверки применения.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7498080" y="2103120"/>
            <a:ext cx="191988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" name="Rounded Rectangle 7"/>
          <p:cNvSpPr/>
          <p:nvPr/>
        </p:nvSpPr>
        <p:spPr>
          <a:xfrm>
            <a:off x="7498080" y="2514600"/>
            <a:ext cx="155412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7498080" y="2926080"/>
            <a:ext cx="114264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" name="Rounded Rectangle 9"/>
          <p:cNvSpPr/>
          <p:nvPr/>
        </p:nvSpPr>
        <p:spPr>
          <a:xfrm>
            <a:off x="9738360" y="2560320"/>
            <a:ext cx="1641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" name="Rounded Rectangle 10"/>
          <p:cNvSpPr/>
          <p:nvPr/>
        </p:nvSpPr>
        <p:spPr>
          <a:xfrm>
            <a:off x="10104120" y="2286000"/>
            <a:ext cx="1641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ounded Rectangle 11"/>
          <p:cNvSpPr/>
          <p:nvPr/>
        </p:nvSpPr>
        <p:spPr>
          <a:xfrm>
            <a:off x="10469880" y="2057400"/>
            <a:ext cx="16416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ounded Rectangle 12"/>
          <p:cNvSpPr/>
          <p:nvPr/>
        </p:nvSpPr>
        <p:spPr>
          <a:xfrm>
            <a:off x="10835640" y="2286000"/>
            <a:ext cx="1641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ounded Rectangle 13"/>
          <p:cNvSpPr/>
          <p:nvPr/>
        </p:nvSpPr>
        <p:spPr>
          <a:xfrm>
            <a:off x="11201400" y="2560320"/>
            <a:ext cx="164160" cy="868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54" name="Connector 14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55" name="TextBox 15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6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1. Исходные данные из ТЗ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Что должен передавать логотип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Rounded Rectangle 4"/>
          <p:cNvSpPr/>
          <p:nvPr/>
        </p:nvSpPr>
        <p:spPr>
          <a:xfrm>
            <a:off x="685800" y="164592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868680" y="1764720"/>
            <a:ext cx="1782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Продукт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ounded Rectangle 6"/>
          <p:cNvSpPr/>
          <p:nvPr/>
        </p:nvSpPr>
        <p:spPr>
          <a:xfrm>
            <a:off x="3063240" y="1645920"/>
            <a:ext cx="8046360" cy="5940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TextBox 7"/>
          <p:cNvSpPr/>
          <p:nvPr/>
        </p:nvSpPr>
        <p:spPr>
          <a:xfrm>
            <a:off x="3291840" y="1755720"/>
            <a:ext cx="7406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Android-читалка: библиотека, FB2, чтение, TTS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8"/>
          <p:cNvSpPr/>
          <p:nvPr/>
        </p:nvSpPr>
        <p:spPr>
          <a:xfrm>
            <a:off x="685800" y="248724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868680" y="2606040"/>
            <a:ext cx="1782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ЦА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10"/>
          <p:cNvSpPr/>
          <p:nvPr/>
        </p:nvSpPr>
        <p:spPr>
          <a:xfrm>
            <a:off x="3063240" y="2487240"/>
            <a:ext cx="8046360" cy="5940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3291840" y="2597040"/>
            <a:ext cx="7406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18–45; регулярное чтение; нужен спокойный инструмент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ounded Rectangle 12"/>
          <p:cNvSpPr/>
          <p:nvPr/>
        </p:nvSpPr>
        <p:spPr>
          <a:xfrm>
            <a:off x="685800" y="332856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13"/>
          <p:cNvSpPr/>
          <p:nvPr/>
        </p:nvSpPr>
        <p:spPr>
          <a:xfrm>
            <a:off x="868680" y="3447360"/>
            <a:ext cx="1782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Характер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14"/>
          <p:cNvSpPr/>
          <p:nvPr/>
        </p:nvSpPr>
        <p:spPr>
          <a:xfrm>
            <a:off x="3063240" y="3328560"/>
            <a:ext cx="8046360" cy="5940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3291840" y="3438000"/>
            <a:ext cx="7406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спокойный, собранный, технологичный, нейтральный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ounded Rectangle 16"/>
          <p:cNvSpPr/>
          <p:nvPr/>
        </p:nvSpPr>
        <p:spPr>
          <a:xfrm>
            <a:off x="685800" y="416952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17"/>
          <p:cNvSpPr/>
          <p:nvPr/>
        </p:nvSpPr>
        <p:spPr>
          <a:xfrm>
            <a:off x="868680" y="4288680"/>
            <a:ext cx="1782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Ограничения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ounded Rectangle 18"/>
          <p:cNvSpPr/>
          <p:nvPr/>
        </p:nvSpPr>
        <p:spPr>
          <a:xfrm>
            <a:off x="3063240" y="4169520"/>
            <a:ext cx="8046360" cy="5940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3291840" y="4279320"/>
            <a:ext cx="7406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минимализм, один акцент, масштабируемость, работа в ч/б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ounded Rectangle 20"/>
          <p:cNvSpPr/>
          <p:nvPr/>
        </p:nvSpPr>
        <p:spPr>
          <a:xfrm>
            <a:off x="685800" y="5010840"/>
            <a:ext cx="2148480" cy="5940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1"/>
          <p:cNvSpPr/>
          <p:nvPr/>
        </p:nvSpPr>
        <p:spPr>
          <a:xfrm>
            <a:off x="868680" y="5129640"/>
            <a:ext cx="1782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Главная задача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22"/>
          <p:cNvSpPr/>
          <p:nvPr/>
        </p:nvSpPr>
        <p:spPr>
          <a:xfrm>
            <a:off x="3063240" y="5010840"/>
            <a:ext cx="8046360" cy="5940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3"/>
          <p:cNvSpPr/>
          <p:nvPr/>
        </p:nvSpPr>
        <p:spPr>
          <a:xfrm>
            <a:off x="3291840" y="5120640"/>
            <a:ext cx="740628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связать смысл чтения и озвучивания без буквальных клише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Connector 24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81" name="TextBox 25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26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2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2. Анализ 5 конкурирующих логотипов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Визуальные признаки изучены по текущим страницам приложений и их иконкам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4"/>
          <p:cNvSpPr/>
          <p:nvPr/>
        </p:nvSpPr>
        <p:spPr>
          <a:xfrm>
            <a:off x="658440" y="1645920"/>
            <a:ext cx="1965600" cy="39772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822960" y="1874520"/>
            <a:ext cx="1645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f6f8"/>
                </a:solidFill>
                <a:latin typeface="Inter"/>
              </a:rPr>
              <a:t>ReadEra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822960" y="3703320"/>
            <a:ext cx="1645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4f6f8"/>
                </a:solidFill>
                <a:latin typeface="Inter"/>
              </a:rPr>
              <a:t>открытая книга + закладка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822960" y="437076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Цвет: оранжевый / синий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822960" y="486468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буквальная метафора чтения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2"/>
          <p:cNvSpPr/>
          <p:nvPr/>
        </p:nvSpPr>
        <p:spPr>
          <a:xfrm>
            <a:off x="2926080" y="1645920"/>
            <a:ext cx="1965600" cy="39772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3090600" y="1874520"/>
            <a:ext cx="1645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f6f8"/>
                </a:solidFill>
                <a:latin typeface="Inter"/>
              </a:rPr>
              <a:t>FBReader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7"/>
          <p:cNvSpPr/>
          <p:nvPr/>
        </p:nvSpPr>
        <p:spPr>
          <a:xfrm>
            <a:off x="3090600" y="3703320"/>
            <a:ext cx="14094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4f6f8"/>
                </a:solidFill>
                <a:latin typeface="Inter"/>
              </a:rPr>
              <a:t>книга + красная закладка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8"/>
          <p:cNvSpPr/>
          <p:nvPr/>
        </p:nvSpPr>
        <p:spPr>
          <a:xfrm>
            <a:off x="3090600" y="437076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Цвет: кремовый / красный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9"/>
          <p:cNvSpPr/>
          <p:nvPr/>
        </p:nvSpPr>
        <p:spPr>
          <a:xfrm>
            <a:off x="3090600" y="486468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книга как основной символ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20"/>
          <p:cNvSpPr/>
          <p:nvPr/>
        </p:nvSpPr>
        <p:spPr>
          <a:xfrm>
            <a:off x="5193720" y="1645920"/>
            <a:ext cx="1965600" cy="39772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1"/>
          <p:cNvSpPr/>
          <p:nvPr/>
        </p:nvSpPr>
        <p:spPr>
          <a:xfrm>
            <a:off x="5358240" y="1874520"/>
            <a:ext cx="1645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f6f8"/>
                </a:solidFill>
                <a:latin typeface="Inter"/>
              </a:rPr>
              <a:t>Moon+ Reader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5"/>
          <p:cNvSpPr/>
          <p:nvPr/>
        </p:nvSpPr>
        <p:spPr>
          <a:xfrm>
            <a:off x="5358240" y="3703320"/>
            <a:ext cx="1645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4f6f8"/>
                </a:solidFill>
                <a:latin typeface="Inter"/>
              </a:rPr>
              <a:t>книга + луна / звёзды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6"/>
          <p:cNvSpPr/>
          <p:nvPr/>
        </p:nvSpPr>
        <p:spPr>
          <a:xfrm>
            <a:off x="5358240" y="4370760"/>
            <a:ext cx="16455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Цвет: синий / жёлтый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7"/>
          <p:cNvSpPr/>
          <p:nvPr/>
        </p:nvSpPr>
        <p:spPr>
          <a:xfrm>
            <a:off x="5358240" y="4864680"/>
            <a:ext cx="16455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сцена ночного чтения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28"/>
          <p:cNvSpPr/>
          <p:nvPr/>
        </p:nvSpPr>
        <p:spPr>
          <a:xfrm>
            <a:off x="7461360" y="1645920"/>
            <a:ext cx="1965600" cy="39772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9"/>
          <p:cNvSpPr/>
          <p:nvPr/>
        </p:nvSpPr>
        <p:spPr>
          <a:xfrm>
            <a:off x="7626240" y="1874520"/>
            <a:ext cx="1645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f6f8"/>
                </a:solidFill>
                <a:latin typeface="Inter"/>
              </a:rPr>
              <a:t>Kindle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3"/>
          <p:cNvSpPr/>
          <p:nvPr/>
        </p:nvSpPr>
        <p:spPr>
          <a:xfrm>
            <a:off x="7626240" y="3703320"/>
            <a:ext cx="164556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4f6f8"/>
                </a:solidFill>
                <a:latin typeface="Inter"/>
              </a:rPr>
              <a:t>силуэт человека с устройством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4"/>
          <p:cNvSpPr/>
          <p:nvPr/>
        </p:nvSpPr>
        <p:spPr>
          <a:xfrm>
            <a:off x="7626240" y="4370760"/>
            <a:ext cx="16455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Цвет: синий / чёрный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35"/>
          <p:cNvSpPr/>
          <p:nvPr/>
        </p:nvSpPr>
        <p:spPr>
          <a:xfrm>
            <a:off x="7626240" y="486468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читатель как герой образа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36"/>
          <p:cNvSpPr/>
          <p:nvPr/>
        </p:nvSpPr>
        <p:spPr>
          <a:xfrm>
            <a:off x="9729360" y="1645920"/>
            <a:ext cx="1965600" cy="39772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37"/>
          <p:cNvSpPr/>
          <p:nvPr/>
        </p:nvSpPr>
        <p:spPr>
          <a:xfrm>
            <a:off x="9893880" y="1874520"/>
            <a:ext cx="1645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br-FR" sz="1500" spc="-1" strike="noStrike">
                <a:solidFill>
                  <a:srgbClr val="f4f6f8"/>
                </a:solidFill>
                <a:latin typeface="Inter"/>
              </a:rPr>
              <a:t>PocketBook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41"/>
          <p:cNvSpPr/>
          <p:nvPr/>
        </p:nvSpPr>
        <p:spPr>
          <a:xfrm>
            <a:off x="9893880" y="37033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4f6f8"/>
                </a:solidFill>
                <a:latin typeface="Inter"/>
              </a:rPr>
              <a:t>группа книг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42"/>
          <p:cNvSpPr/>
          <p:nvPr/>
        </p:nvSpPr>
        <p:spPr>
          <a:xfrm>
            <a:off x="9893880" y="4370760"/>
            <a:ext cx="164556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Цвет: многоцветный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3"/>
          <p:cNvSpPr/>
          <p:nvPr/>
        </p:nvSpPr>
        <p:spPr>
          <a:xfrm>
            <a:off x="9893880" y="4864680"/>
            <a:ext cx="1645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категория книг через предметный образ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44"/>
          <p:cNvSpPr/>
          <p:nvPr/>
        </p:nvSpPr>
        <p:spPr>
          <a:xfrm>
            <a:off x="658440" y="5906880"/>
            <a:ext cx="105152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9aa4b2"/>
                </a:solidFill>
                <a:latin typeface="Inter"/>
              </a:rPr>
              <a:t>Источник: Google Play / FBReader official Android pages, проверено 30.09.2026.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" name="Connector 45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113" name="TextBox 46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Источники: play.google.com (ReadEra, Moon+, Kindle, PocketBook); fbreader.org/ru/android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47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3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1186920" y="2340000"/>
            <a:ext cx="973080" cy="97308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3240000" y="2192400"/>
            <a:ext cx="1228320" cy="1228320"/>
          </a:xfrm>
          <a:prstGeom prst="rect">
            <a:avLst/>
          </a:prstGeom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3"/>
          <a:stretch/>
        </p:blipFill>
        <p:spPr>
          <a:xfrm>
            <a:off x="7920000" y="2340000"/>
            <a:ext cx="952200" cy="95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3. Вывод из анализа конкурентов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Что использовать, чего избегать, за счёт чего отличаться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777240" y="173736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960120" y="1965960"/>
            <a:ext cx="1645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ИСПОЛЬЗОВАТЬ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6"/>
          <p:cNvSpPr/>
          <p:nvPr/>
        </p:nvSpPr>
        <p:spPr>
          <a:xfrm>
            <a:off x="3063240" y="1737360"/>
            <a:ext cx="8046360" cy="8226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7"/>
          <p:cNvSpPr/>
          <p:nvPr/>
        </p:nvSpPr>
        <p:spPr>
          <a:xfrm>
            <a:off x="3337560" y="1883520"/>
            <a:ext cx="74520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4f6f8"/>
                </a:solidFill>
                <a:latin typeface="Inter"/>
              </a:rPr>
              <a:t>простоту считывания, понятный контраст, компактный знак, устойчивость в маленьком размере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8"/>
          <p:cNvSpPr/>
          <p:nvPr/>
        </p:nvSpPr>
        <p:spPr>
          <a:xfrm>
            <a:off x="777240" y="309060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9"/>
          <p:cNvSpPr/>
          <p:nvPr/>
        </p:nvSpPr>
        <p:spPr>
          <a:xfrm>
            <a:off x="960120" y="3319200"/>
            <a:ext cx="1645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ИЗБЕГАТЬ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0"/>
          <p:cNvSpPr/>
          <p:nvPr/>
        </p:nvSpPr>
        <p:spPr>
          <a:xfrm>
            <a:off x="3063240" y="3090600"/>
            <a:ext cx="8046360" cy="8226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3337560" y="3237120"/>
            <a:ext cx="74520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4f6f8"/>
                </a:solidFill>
                <a:latin typeface="Inter"/>
              </a:rPr>
              <a:t>буквальной раскрытой книги как единственного смысла; множества деталей; клише «книга + наушники»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12"/>
          <p:cNvSpPr/>
          <p:nvPr/>
        </p:nvSpPr>
        <p:spPr>
          <a:xfrm>
            <a:off x="777240" y="4443840"/>
            <a:ext cx="2011320" cy="8226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960120" y="4672440"/>
            <a:ext cx="16455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ОТЛИЧАТЬСЯ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4"/>
          <p:cNvSpPr/>
          <p:nvPr/>
        </p:nvSpPr>
        <p:spPr>
          <a:xfrm>
            <a:off x="3063240" y="4443840"/>
            <a:ext cx="8046360" cy="82260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15"/>
          <p:cNvSpPr/>
          <p:nvPr/>
        </p:nvSpPr>
        <p:spPr>
          <a:xfrm>
            <a:off x="3337560" y="4590360"/>
            <a:ext cx="74520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4f6f8"/>
                </a:solidFill>
                <a:latin typeface="Inter"/>
              </a:rPr>
              <a:t>показать переход текста в звук: чтение → слушание как единая система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3" name="Connector 16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134" name="TextBox 17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4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4. Карта ассоциаций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Три смысловые ветки, 2–3 уровня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4"/>
          <p:cNvSpPr/>
          <p:nvPr/>
        </p:nvSpPr>
        <p:spPr>
          <a:xfrm>
            <a:off x="868680" y="248724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987480" y="2670120"/>
            <a:ext cx="1599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Inter"/>
              </a:rPr>
              <a:t>BOOKREADER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Connector 6"/>
          <p:cNvCxnSpPr/>
          <p:nvPr/>
        </p:nvCxnSpPr>
        <p:spPr>
          <a:xfrm flipV="1">
            <a:off x="2697480" y="1920240"/>
            <a:ext cx="1051560" cy="89640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sp>
        <p:nvSpPr>
          <p:cNvPr id="142" name="Rounded Rectangle 7"/>
          <p:cNvSpPr/>
          <p:nvPr/>
        </p:nvSpPr>
        <p:spPr>
          <a:xfrm>
            <a:off x="3749040" y="160020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3886200" y="1819800"/>
            <a:ext cx="1554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498f5"/>
                </a:solidFill>
                <a:latin typeface="Inter"/>
              </a:rPr>
              <a:t>ЧТЕНИЕ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9"/>
          <p:cNvSpPr/>
          <p:nvPr/>
        </p:nvSpPr>
        <p:spPr>
          <a:xfrm>
            <a:off x="5806440" y="1600200"/>
            <a:ext cx="5211720" cy="65808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035040" y="1764720"/>
            <a:ext cx="4754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текст → строка → ритм → поток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6" name="Connector 11"/>
          <p:cNvCxnSpPr/>
          <p:nvPr/>
        </p:nvCxnSpPr>
        <p:spPr>
          <a:xfrm>
            <a:off x="2697480" y="2816280"/>
            <a:ext cx="1051560" cy="24732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sp>
        <p:nvSpPr>
          <p:cNvPr id="147" name="Rounded Rectangle 12"/>
          <p:cNvSpPr/>
          <p:nvPr/>
        </p:nvSpPr>
        <p:spPr>
          <a:xfrm>
            <a:off x="3749040" y="274320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3886200" y="2962800"/>
            <a:ext cx="1554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498f5"/>
                </a:solidFill>
                <a:latin typeface="Inter"/>
              </a:rPr>
              <a:t>ГОЛОС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14"/>
          <p:cNvSpPr/>
          <p:nvPr/>
        </p:nvSpPr>
        <p:spPr>
          <a:xfrm>
            <a:off x="5806440" y="2743200"/>
            <a:ext cx="5211720" cy="65808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6035040" y="2907720"/>
            <a:ext cx="4754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звук → волна → импульс → последовательность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1" name="Connector 16"/>
          <p:cNvCxnSpPr/>
          <p:nvPr/>
        </p:nvCxnSpPr>
        <p:spPr>
          <a:xfrm>
            <a:off x="2697480" y="2816280"/>
            <a:ext cx="1051560" cy="139032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sp>
        <p:nvSpPr>
          <p:cNvPr id="152" name="Rounded Rectangle 17"/>
          <p:cNvSpPr/>
          <p:nvPr/>
        </p:nvSpPr>
        <p:spPr>
          <a:xfrm>
            <a:off x="3749040" y="3886200"/>
            <a:ext cx="1828440" cy="6580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3886200" y="4105800"/>
            <a:ext cx="1554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498f5"/>
                </a:solidFill>
                <a:latin typeface="Inter"/>
              </a:rPr>
              <a:t>ПОРЯДОК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19"/>
          <p:cNvSpPr/>
          <p:nvPr/>
        </p:nvSpPr>
        <p:spPr>
          <a:xfrm>
            <a:off x="5806440" y="3886200"/>
            <a:ext cx="5211720" cy="65808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0"/>
          <p:cNvSpPr/>
          <p:nvPr/>
        </p:nvSpPr>
        <p:spPr>
          <a:xfrm>
            <a:off x="6035040" y="4050720"/>
            <a:ext cx="47545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4f6f8"/>
                </a:solidFill>
                <a:latin typeface="Inter"/>
              </a:rPr>
              <a:t>библиотека → структура → сетка → модуль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21"/>
          <p:cNvSpPr/>
          <p:nvPr/>
        </p:nvSpPr>
        <p:spPr>
          <a:xfrm>
            <a:off x="914400" y="5212080"/>
            <a:ext cx="98751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9aa4b2"/>
                </a:solidFill>
                <a:latin typeface="Inter"/>
              </a:rPr>
              <a:t>Приоритетные смыслы: текст → звук, типографический знак, поток.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Connector 22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158" name="TextBox 23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4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5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5. Выбранное направление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«Текст → звук»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822960" y="1691640"/>
            <a:ext cx="53031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4f6f8"/>
                </a:solidFill>
                <a:latin typeface="Inter"/>
              </a:rPr>
              <a:t>Несколько строк текста постепенно преобразуются в звуковую волну.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822960" y="2606040"/>
            <a:ext cx="292572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Связь с продуктом: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822960" y="297180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1. читать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822960" y="347472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2. слушать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822960" y="3977640"/>
            <a:ext cx="47545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3. переключать режим без смены приложения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9"/>
          <p:cNvSpPr/>
          <p:nvPr/>
        </p:nvSpPr>
        <p:spPr>
          <a:xfrm>
            <a:off x="6400800" y="2331720"/>
            <a:ext cx="201132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ounded Rectangle 10"/>
          <p:cNvSpPr/>
          <p:nvPr/>
        </p:nvSpPr>
        <p:spPr>
          <a:xfrm>
            <a:off x="6400800" y="2880360"/>
            <a:ext cx="169128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ounded Rectangle 11"/>
          <p:cNvSpPr/>
          <p:nvPr/>
        </p:nvSpPr>
        <p:spPr>
          <a:xfrm>
            <a:off x="6400800" y="3429000"/>
            <a:ext cx="1279800" cy="164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ounded Rectangle 12"/>
          <p:cNvSpPr/>
          <p:nvPr/>
        </p:nvSpPr>
        <p:spPr>
          <a:xfrm>
            <a:off x="8961120" y="2788920"/>
            <a:ext cx="18252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ounded Rectangle 13"/>
          <p:cNvSpPr/>
          <p:nvPr/>
        </p:nvSpPr>
        <p:spPr>
          <a:xfrm>
            <a:off x="9399960" y="2541960"/>
            <a:ext cx="1825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ounded Rectangle 14"/>
          <p:cNvSpPr/>
          <p:nvPr/>
        </p:nvSpPr>
        <p:spPr>
          <a:xfrm>
            <a:off x="9838800" y="2286000"/>
            <a:ext cx="18252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Rounded Rectangle 15"/>
          <p:cNvSpPr/>
          <p:nvPr/>
        </p:nvSpPr>
        <p:spPr>
          <a:xfrm>
            <a:off x="10278000" y="2541960"/>
            <a:ext cx="1825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ounded Rectangle 16"/>
          <p:cNvSpPr/>
          <p:nvPr/>
        </p:nvSpPr>
        <p:spPr>
          <a:xfrm>
            <a:off x="10716840" y="2788920"/>
            <a:ext cx="182520" cy="59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7"/>
          <p:cNvSpPr/>
          <p:nvPr/>
        </p:nvSpPr>
        <p:spPr>
          <a:xfrm>
            <a:off x="6263640" y="4709160"/>
            <a:ext cx="47545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9aa4b2"/>
                </a:solidFill>
                <a:latin typeface="Inter"/>
              </a:rPr>
              <a:t>Без буквальной книги • без наушников • без микрофона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7" name="Connector 18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178" name="TextBox 19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20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6. Мудборд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Направление атмосферы и материалов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ounded Rectangle 4"/>
          <p:cNvSpPr/>
          <p:nvPr/>
        </p:nvSpPr>
        <p:spPr>
          <a:xfrm>
            <a:off x="731520" y="16002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ounded Rectangle 5"/>
          <p:cNvSpPr/>
          <p:nvPr/>
        </p:nvSpPr>
        <p:spPr>
          <a:xfrm>
            <a:off x="3703320" y="16002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10131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6675120" y="1600200"/>
            <a:ext cx="2011320" cy="1828440"/>
          </a:xfrm>
          <a:prstGeom prst="roundRect">
            <a:avLst>
              <a:gd name="adj" fmla="val 16667"/>
            </a:avLst>
          </a:prstGeom>
          <a:solidFill>
            <a:srgbClr val="0a0d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Rounded Rectangle 7"/>
          <p:cNvSpPr/>
          <p:nvPr/>
        </p:nvSpPr>
        <p:spPr>
          <a:xfrm>
            <a:off x="8961120" y="1600200"/>
            <a:ext cx="2331360" cy="1828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ounded Rectangle 8"/>
          <p:cNvSpPr/>
          <p:nvPr/>
        </p:nvSpPr>
        <p:spPr>
          <a:xfrm>
            <a:off x="731520" y="36576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Rounded Rectangle 9"/>
          <p:cNvSpPr/>
          <p:nvPr/>
        </p:nvSpPr>
        <p:spPr>
          <a:xfrm>
            <a:off x="3703320" y="36576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Rounded Rectangle 10"/>
          <p:cNvSpPr/>
          <p:nvPr/>
        </p:nvSpPr>
        <p:spPr>
          <a:xfrm>
            <a:off x="6675120" y="3657600"/>
            <a:ext cx="2011320" cy="182844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Rounded Rectangle 11"/>
          <p:cNvSpPr/>
          <p:nvPr/>
        </p:nvSpPr>
        <p:spPr>
          <a:xfrm>
            <a:off x="8961120" y="3657600"/>
            <a:ext cx="2331360" cy="1828440"/>
          </a:xfrm>
          <a:prstGeom prst="roundRect">
            <a:avLst>
              <a:gd name="adj" fmla="val 16667"/>
            </a:avLst>
          </a:prstGeom>
          <a:solidFill>
            <a:srgbClr val="0b0e1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960120" y="2011680"/>
            <a:ext cx="228564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f4f6f8"/>
                </a:solidFill>
                <a:latin typeface="Inter"/>
              </a:rPr>
              <a:t>Aa  BOOKREADER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3"/>
          <p:cNvSpPr/>
          <p:nvPr/>
        </p:nvSpPr>
        <p:spPr>
          <a:xfrm>
            <a:off x="978480" y="2770560"/>
            <a:ext cx="21942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Inter / neutral / high readability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3" name="Connector 14"/>
          <p:cNvCxnSpPr/>
          <p:nvPr/>
        </p:nvCxnSpPr>
        <p:spPr>
          <a:xfrm>
            <a:off x="408708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4" name="Connector 15"/>
          <p:cNvCxnSpPr/>
          <p:nvPr/>
        </p:nvCxnSpPr>
        <p:spPr>
          <a:xfrm>
            <a:off x="447120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5" name="Connector 16"/>
          <p:cNvCxnSpPr/>
          <p:nvPr/>
        </p:nvCxnSpPr>
        <p:spPr>
          <a:xfrm>
            <a:off x="485532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6" name="Connector 17"/>
          <p:cNvCxnSpPr/>
          <p:nvPr/>
        </p:nvCxnSpPr>
        <p:spPr>
          <a:xfrm>
            <a:off x="523944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7" name="Connector 18"/>
          <p:cNvCxnSpPr/>
          <p:nvPr/>
        </p:nvCxnSpPr>
        <p:spPr>
          <a:xfrm>
            <a:off x="562356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8" name="Connector 19"/>
          <p:cNvCxnSpPr/>
          <p:nvPr/>
        </p:nvCxnSpPr>
        <p:spPr>
          <a:xfrm>
            <a:off x="6007320" y="1627560"/>
            <a:ext cx="360" cy="177408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199" name="Connector 20"/>
          <p:cNvCxnSpPr/>
          <p:nvPr/>
        </p:nvCxnSpPr>
        <p:spPr>
          <a:xfrm>
            <a:off x="3730680" y="1983960"/>
            <a:ext cx="267048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200" name="Connector 21"/>
          <p:cNvCxnSpPr/>
          <p:nvPr/>
        </p:nvCxnSpPr>
        <p:spPr>
          <a:xfrm>
            <a:off x="3730680" y="2368080"/>
            <a:ext cx="267048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201" name="Connector 22"/>
          <p:cNvCxnSpPr/>
          <p:nvPr/>
        </p:nvCxnSpPr>
        <p:spPr>
          <a:xfrm>
            <a:off x="3730680" y="2752200"/>
            <a:ext cx="267048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cxnSp>
        <p:nvCxnSpPr>
          <p:cNvPr id="202" name="Connector 23"/>
          <p:cNvCxnSpPr/>
          <p:nvPr/>
        </p:nvCxnSpPr>
        <p:spPr>
          <a:xfrm>
            <a:off x="3730680" y="3136320"/>
            <a:ext cx="267048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203" name="Rounded Rectangle 24"/>
          <p:cNvSpPr/>
          <p:nvPr/>
        </p:nvSpPr>
        <p:spPr>
          <a:xfrm>
            <a:off x="7040880" y="2217600"/>
            <a:ext cx="109440" cy="41112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Rounded Rectangle 25"/>
          <p:cNvSpPr/>
          <p:nvPr/>
        </p:nvSpPr>
        <p:spPr>
          <a:xfrm>
            <a:off x="7296840" y="2057400"/>
            <a:ext cx="109440" cy="731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Rounded Rectangle 26"/>
          <p:cNvSpPr/>
          <p:nvPr/>
        </p:nvSpPr>
        <p:spPr>
          <a:xfrm>
            <a:off x="7552800" y="1897560"/>
            <a:ext cx="109440" cy="10512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Rounded Rectangle 27"/>
          <p:cNvSpPr/>
          <p:nvPr/>
        </p:nvSpPr>
        <p:spPr>
          <a:xfrm>
            <a:off x="7809120" y="2057400"/>
            <a:ext cx="109440" cy="7311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Rounded Rectangle 28"/>
          <p:cNvSpPr/>
          <p:nvPr/>
        </p:nvSpPr>
        <p:spPr>
          <a:xfrm>
            <a:off x="8065080" y="2217600"/>
            <a:ext cx="109440" cy="41112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Rounded Rectangle 29"/>
          <p:cNvSpPr/>
          <p:nvPr/>
        </p:nvSpPr>
        <p:spPr>
          <a:xfrm>
            <a:off x="9326880" y="1965960"/>
            <a:ext cx="1599840" cy="109692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30"/>
          <p:cNvSpPr/>
          <p:nvPr/>
        </p:nvSpPr>
        <p:spPr>
          <a:xfrm>
            <a:off x="9418320" y="2340720"/>
            <a:ext cx="1416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0f1115"/>
                </a:solidFill>
                <a:latin typeface="Inter"/>
              </a:rPr>
              <a:t>#3498F5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1"/>
          <p:cNvSpPr/>
          <p:nvPr/>
        </p:nvSpPr>
        <p:spPr>
          <a:xfrm>
            <a:off x="960120" y="4160520"/>
            <a:ext cx="21484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9aa4b2"/>
                </a:solidFill>
                <a:latin typeface="Inter"/>
              </a:rPr>
              <a:t>СПОКОЙСТВИЕ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2"/>
          <p:cNvSpPr/>
          <p:nvPr/>
        </p:nvSpPr>
        <p:spPr>
          <a:xfrm>
            <a:off x="960120" y="4617720"/>
            <a:ext cx="22399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4f6f8"/>
                </a:solidFill>
                <a:latin typeface="Inter"/>
              </a:rPr>
              <a:t>тёмный фон / много воздуха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33"/>
          <p:cNvSpPr/>
          <p:nvPr/>
        </p:nvSpPr>
        <p:spPr>
          <a:xfrm>
            <a:off x="4069080" y="4023360"/>
            <a:ext cx="2011320" cy="1096920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Rounded Rectangle 34"/>
          <p:cNvSpPr/>
          <p:nvPr/>
        </p:nvSpPr>
        <p:spPr>
          <a:xfrm>
            <a:off x="4343400" y="4251960"/>
            <a:ext cx="1096920" cy="109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Rounded Rectangle 35"/>
          <p:cNvSpPr/>
          <p:nvPr/>
        </p:nvSpPr>
        <p:spPr>
          <a:xfrm>
            <a:off x="4343400" y="4498920"/>
            <a:ext cx="822600" cy="10944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Rounded Rectangle 36"/>
          <p:cNvSpPr/>
          <p:nvPr/>
        </p:nvSpPr>
        <p:spPr>
          <a:xfrm>
            <a:off x="4343400" y="4745880"/>
            <a:ext cx="594000" cy="109440"/>
          </a:xfrm>
          <a:prstGeom prst="roundRect">
            <a:avLst>
              <a:gd name="adj" fmla="val 16667"/>
            </a:avLst>
          </a:prstGeom>
          <a:solidFill>
            <a:srgbClr val="9aa4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216" name="Connector 37"/>
          <p:cNvCxnSpPr/>
          <p:nvPr/>
        </p:nvCxnSpPr>
        <p:spPr>
          <a:xfrm>
            <a:off x="6995160" y="4187880"/>
            <a:ext cx="360" cy="76824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cxnSp>
        <p:nvCxnSpPr>
          <p:cNvPr id="217" name="Connector 38"/>
          <p:cNvCxnSpPr/>
          <p:nvPr/>
        </p:nvCxnSpPr>
        <p:spPr>
          <a:xfrm>
            <a:off x="7196040" y="4187880"/>
            <a:ext cx="360" cy="76824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cxnSp>
        <p:nvCxnSpPr>
          <p:cNvPr id="218" name="Connector 39"/>
          <p:cNvCxnSpPr/>
          <p:nvPr/>
        </p:nvCxnSpPr>
        <p:spPr>
          <a:xfrm>
            <a:off x="7397280" y="4187880"/>
            <a:ext cx="360" cy="768240"/>
          </a:xfrm>
          <a:prstGeom prst="straightConnector1">
            <a:avLst/>
          </a:prstGeom>
          <a:ln>
            <a:solidFill>
              <a:srgbClr val="3498f5"/>
            </a:solidFill>
            <a:round/>
          </a:ln>
        </p:spPr>
      </p:cxnSp>
      <p:sp>
        <p:nvSpPr>
          <p:cNvPr id="219" name="TextBox 40"/>
          <p:cNvSpPr/>
          <p:nvPr/>
        </p:nvSpPr>
        <p:spPr>
          <a:xfrm>
            <a:off x="9372600" y="4160520"/>
            <a:ext cx="1645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f4f6f8"/>
                </a:solidFill>
                <a:latin typeface="Inter"/>
              </a:rPr>
              <a:t>РИТМ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41"/>
          <p:cNvSpPr/>
          <p:nvPr/>
        </p:nvSpPr>
        <p:spPr>
          <a:xfrm>
            <a:off x="9212760" y="4617720"/>
            <a:ext cx="18284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модульность / повтор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1" name="Connector 42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222" name="TextBox 43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44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7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7. 8 референсов и что изучается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Референсы не копируются: анализируются принципы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4"/>
          <p:cNvSpPr/>
          <p:nvPr/>
        </p:nvSpPr>
        <p:spPr>
          <a:xfrm>
            <a:off x="640080" y="160020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804600" y="173736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6"/>
          <p:cNvSpPr/>
          <p:nvPr/>
        </p:nvSpPr>
        <p:spPr>
          <a:xfrm>
            <a:off x="1207080" y="173736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Swiss grid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804600" y="218556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иерархия и ритм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ounded Rectangle 8"/>
          <p:cNvSpPr/>
          <p:nvPr/>
        </p:nvSpPr>
        <p:spPr>
          <a:xfrm>
            <a:off x="3456360" y="160020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9"/>
          <p:cNvSpPr/>
          <p:nvPr/>
        </p:nvSpPr>
        <p:spPr>
          <a:xfrm>
            <a:off x="3620880" y="173736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02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10"/>
          <p:cNvSpPr/>
          <p:nvPr/>
        </p:nvSpPr>
        <p:spPr>
          <a:xfrm>
            <a:off x="4023360" y="173736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Inter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3620880" y="218556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нейтральная типографика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12"/>
          <p:cNvSpPr/>
          <p:nvPr/>
        </p:nvSpPr>
        <p:spPr>
          <a:xfrm>
            <a:off x="6272640" y="160020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13"/>
          <p:cNvSpPr/>
          <p:nvPr/>
        </p:nvSpPr>
        <p:spPr>
          <a:xfrm>
            <a:off x="6437520" y="173736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03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4"/>
          <p:cNvSpPr/>
          <p:nvPr/>
        </p:nvSpPr>
        <p:spPr>
          <a:xfrm>
            <a:off x="6839640" y="173736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Line icons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5"/>
          <p:cNvSpPr/>
          <p:nvPr/>
        </p:nvSpPr>
        <p:spPr>
          <a:xfrm>
            <a:off x="6437520" y="218556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единая толщина штриха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ounded Rectangle 16"/>
          <p:cNvSpPr/>
          <p:nvPr/>
        </p:nvSpPr>
        <p:spPr>
          <a:xfrm>
            <a:off x="9089280" y="160020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17"/>
          <p:cNvSpPr/>
          <p:nvPr/>
        </p:nvSpPr>
        <p:spPr>
          <a:xfrm>
            <a:off x="9253800" y="173736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18"/>
          <p:cNvSpPr/>
          <p:nvPr/>
        </p:nvSpPr>
        <p:spPr>
          <a:xfrm>
            <a:off x="9655920" y="173736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Waveform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19"/>
          <p:cNvSpPr/>
          <p:nvPr/>
        </p:nvSpPr>
        <p:spPr>
          <a:xfrm>
            <a:off x="9253800" y="218556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визуализация звука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ounded Rectangle 20"/>
          <p:cNvSpPr/>
          <p:nvPr/>
        </p:nvSpPr>
        <p:spPr>
          <a:xfrm>
            <a:off x="640080" y="347472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21"/>
          <p:cNvSpPr/>
          <p:nvPr/>
        </p:nvSpPr>
        <p:spPr>
          <a:xfrm>
            <a:off x="804600" y="361188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05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22"/>
          <p:cNvSpPr/>
          <p:nvPr/>
        </p:nvSpPr>
        <p:spPr>
          <a:xfrm>
            <a:off x="1207080" y="361188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App icon grid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3"/>
          <p:cNvSpPr/>
          <p:nvPr/>
        </p:nvSpPr>
        <p:spPr>
          <a:xfrm>
            <a:off x="804600" y="406008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масштабирование знака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ounded Rectangle 24"/>
          <p:cNvSpPr/>
          <p:nvPr/>
        </p:nvSpPr>
        <p:spPr>
          <a:xfrm>
            <a:off x="3456360" y="347472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25"/>
          <p:cNvSpPr/>
          <p:nvPr/>
        </p:nvSpPr>
        <p:spPr>
          <a:xfrm>
            <a:off x="3620880" y="361188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06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26"/>
          <p:cNvSpPr/>
          <p:nvPr/>
        </p:nvSpPr>
        <p:spPr>
          <a:xfrm>
            <a:off x="4023360" y="361188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8 dp grid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7"/>
          <p:cNvSpPr/>
          <p:nvPr/>
        </p:nvSpPr>
        <p:spPr>
          <a:xfrm>
            <a:off x="3620880" y="406008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система отступов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28"/>
          <p:cNvSpPr/>
          <p:nvPr/>
        </p:nvSpPr>
        <p:spPr>
          <a:xfrm>
            <a:off x="6272640" y="347472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29"/>
          <p:cNvSpPr/>
          <p:nvPr/>
        </p:nvSpPr>
        <p:spPr>
          <a:xfrm>
            <a:off x="6437520" y="361188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07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30"/>
          <p:cNvSpPr/>
          <p:nvPr/>
        </p:nvSpPr>
        <p:spPr>
          <a:xfrm>
            <a:off x="6839640" y="361188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Dark UI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1"/>
          <p:cNvSpPr/>
          <p:nvPr/>
        </p:nvSpPr>
        <p:spPr>
          <a:xfrm>
            <a:off x="6437520" y="406008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контраст и концентрация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 32"/>
          <p:cNvSpPr/>
          <p:nvPr/>
        </p:nvSpPr>
        <p:spPr>
          <a:xfrm>
            <a:off x="9089280" y="3474720"/>
            <a:ext cx="2486880" cy="14810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33"/>
          <p:cNvSpPr/>
          <p:nvPr/>
        </p:nvSpPr>
        <p:spPr>
          <a:xfrm>
            <a:off x="9253800" y="3611880"/>
            <a:ext cx="3196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08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34"/>
          <p:cNvSpPr/>
          <p:nvPr/>
        </p:nvSpPr>
        <p:spPr>
          <a:xfrm>
            <a:off x="9655920" y="3611880"/>
            <a:ext cx="16912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Signal / rhythm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35"/>
          <p:cNvSpPr/>
          <p:nvPr/>
        </p:nvSpPr>
        <p:spPr>
          <a:xfrm>
            <a:off x="9253800" y="4060080"/>
            <a:ext cx="20570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повтор и модульность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9" name="Connector 36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260" name="TextBox 37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38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8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8. Цвет и типографика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Палитра наследуется из ТЗ и применяется в логотипе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ounded Rectangle 4"/>
          <p:cNvSpPr/>
          <p:nvPr/>
        </p:nvSpPr>
        <p:spPr>
          <a:xfrm>
            <a:off x="685800" y="1737360"/>
            <a:ext cx="1938240" cy="1142640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822960" y="3035880"/>
            <a:ext cx="1645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f6f8"/>
                </a:solidFill>
                <a:latin typeface="Inter"/>
              </a:rPr>
              <a:t>Основной фон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822960" y="33649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#0F1115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ounded Rectangle 7"/>
          <p:cNvSpPr/>
          <p:nvPr/>
        </p:nvSpPr>
        <p:spPr>
          <a:xfrm>
            <a:off x="2926080" y="1737360"/>
            <a:ext cx="1938240" cy="11426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8"/>
          <p:cNvSpPr/>
          <p:nvPr/>
        </p:nvSpPr>
        <p:spPr>
          <a:xfrm>
            <a:off x="3063240" y="3035880"/>
            <a:ext cx="1645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f6f8"/>
                </a:solidFill>
                <a:latin typeface="Inter"/>
              </a:rPr>
              <a:t>Поверхность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3063240" y="33649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#171A21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10"/>
          <p:cNvSpPr/>
          <p:nvPr/>
        </p:nvSpPr>
        <p:spPr>
          <a:xfrm>
            <a:off x="5166360" y="1737360"/>
            <a:ext cx="1938240" cy="1142640"/>
          </a:xfrm>
          <a:prstGeom prst="roundRect">
            <a:avLst>
              <a:gd name="adj" fmla="val 16667"/>
            </a:avLst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11"/>
          <p:cNvSpPr/>
          <p:nvPr/>
        </p:nvSpPr>
        <p:spPr>
          <a:xfrm>
            <a:off x="5303520" y="3035880"/>
            <a:ext cx="1645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f6f8"/>
                </a:solidFill>
                <a:latin typeface="Inter"/>
              </a:rPr>
              <a:t>Текст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12"/>
          <p:cNvSpPr/>
          <p:nvPr/>
        </p:nvSpPr>
        <p:spPr>
          <a:xfrm>
            <a:off x="5303520" y="33649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#F4F6F8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13"/>
          <p:cNvSpPr/>
          <p:nvPr/>
        </p:nvSpPr>
        <p:spPr>
          <a:xfrm>
            <a:off x="7406640" y="1737360"/>
            <a:ext cx="1938240" cy="1142640"/>
          </a:xfrm>
          <a:prstGeom prst="roundRect">
            <a:avLst>
              <a:gd name="adj" fmla="val 16667"/>
            </a:avLst>
          </a:prstGeom>
          <a:solidFill>
            <a:srgbClr val="9aa4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14"/>
          <p:cNvSpPr/>
          <p:nvPr/>
        </p:nvSpPr>
        <p:spPr>
          <a:xfrm>
            <a:off x="7543800" y="3035880"/>
            <a:ext cx="1645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f6f8"/>
                </a:solidFill>
                <a:latin typeface="Inter"/>
              </a:rPr>
              <a:t>Вторичный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7543800" y="33649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#9AA4B2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16"/>
          <p:cNvSpPr/>
          <p:nvPr/>
        </p:nvSpPr>
        <p:spPr>
          <a:xfrm>
            <a:off x="9646920" y="1737360"/>
            <a:ext cx="1938240" cy="11426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TextBox 17"/>
          <p:cNvSpPr/>
          <p:nvPr/>
        </p:nvSpPr>
        <p:spPr>
          <a:xfrm>
            <a:off x="9784080" y="3035880"/>
            <a:ext cx="16455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f4f6f8"/>
                </a:solidFill>
                <a:latin typeface="Inter"/>
              </a:rPr>
              <a:t>Акцент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Box 18"/>
          <p:cNvSpPr/>
          <p:nvPr/>
        </p:nvSpPr>
        <p:spPr>
          <a:xfrm>
            <a:off x="9784080" y="3364920"/>
            <a:ext cx="16455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#3498F5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9"/>
          <p:cNvSpPr/>
          <p:nvPr/>
        </p:nvSpPr>
        <p:spPr>
          <a:xfrm>
            <a:off x="777240" y="4160520"/>
            <a:ext cx="219420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100" spc="-1" strike="noStrike">
                <a:solidFill>
                  <a:srgbClr val="f4f6f8"/>
                </a:solidFill>
                <a:latin typeface="Inter"/>
              </a:rPr>
              <a:t>Inter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20"/>
          <p:cNvSpPr/>
          <p:nvPr/>
        </p:nvSpPr>
        <p:spPr>
          <a:xfrm>
            <a:off x="777240" y="4754880"/>
            <a:ext cx="4023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Заголовок / навигация / метаданные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5029200" y="4160520"/>
            <a:ext cx="57603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4f6f8"/>
                </a:solidFill>
                <a:latin typeface="Inter"/>
              </a:rPr>
              <a:t>Ахроматика обязательна: чёрная и белая версии сохраняют форму знака без зависимости от цвета.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Box 22"/>
          <p:cNvSpPr/>
          <p:nvPr/>
        </p:nvSpPr>
        <p:spPr>
          <a:xfrm>
            <a:off x="5029200" y="5074920"/>
            <a:ext cx="5760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9aa4b2"/>
                </a:solidFill>
                <a:latin typeface="Inter"/>
              </a:rPr>
              <a:t>Цветной логотип: акцент #3498F5 + нейтральный словесный знак.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4" name="Connector 23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285" name="TextBox 24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25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9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9. 6 эскизных направлений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Это цифровые схемы идей; по ТЗ ручные эскизы должны быть дорисованы от руки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4"/>
          <p:cNvSpPr/>
          <p:nvPr/>
        </p:nvSpPr>
        <p:spPr>
          <a:xfrm>
            <a:off x="658440" y="150876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13"/>
          <p:cNvSpPr/>
          <p:nvPr/>
        </p:nvSpPr>
        <p:spPr>
          <a:xfrm>
            <a:off x="841320" y="292608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1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4"/>
          <p:cNvSpPr/>
          <p:nvPr/>
        </p:nvSpPr>
        <p:spPr>
          <a:xfrm>
            <a:off x="1161360" y="289872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4f6f8"/>
                </a:solidFill>
                <a:latin typeface="Inter"/>
              </a:rPr>
              <a:t>волна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ounded Rectangle 15"/>
          <p:cNvSpPr/>
          <p:nvPr/>
        </p:nvSpPr>
        <p:spPr>
          <a:xfrm>
            <a:off x="4361760" y="150876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24"/>
          <p:cNvSpPr/>
          <p:nvPr/>
        </p:nvSpPr>
        <p:spPr>
          <a:xfrm>
            <a:off x="4544640" y="292608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2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25"/>
          <p:cNvSpPr/>
          <p:nvPr/>
        </p:nvSpPr>
        <p:spPr>
          <a:xfrm>
            <a:off x="4864680" y="289872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4f6f8"/>
                </a:solidFill>
                <a:latin typeface="Inter"/>
              </a:rPr>
              <a:t>Три строки образуют волну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ounded Rectangle 26"/>
          <p:cNvSpPr/>
          <p:nvPr/>
        </p:nvSpPr>
        <p:spPr>
          <a:xfrm>
            <a:off x="8065080" y="150876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36"/>
          <p:cNvSpPr/>
          <p:nvPr/>
        </p:nvSpPr>
        <p:spPr>
          <a:xfrm>
            <a:off x="8247960" y="292608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3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Box 37"/>
          <p:cNvSpPr/>
          <p:nvPr/>
        </p:nvSpPr>
        <p:spPr>
          <a:xfrm>
            <a:off x="8568000" y="289872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100" spc="-1" strike="noStrike">
                <a:solidFill>
                  <a:srgbClr val="f4f6f8"/>
                </a:solidFill>
                <a:latin typeface="Inter"/>
              </a:rPr>
              <a:t>изтекстаВзвук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ounded Rectangle 38"/>
          <p:cNvSpPr/>
          <p:nvPr/>
        </p:nvSpPr>
        <p:spPr>
          <a:xfrm>
            <a:off x="658440" y="381312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ounded Rectangle 39"/>
          <p:cNvSpPr/>
          <p:nvPr/>
        </p:nvSpPr>
        <p:spPr>
          <a:xfrm>
            <a:off x="1161360" y="4224600"/>
            <a:ext cx="639720" cy="9140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ounded Rectangle 40"/>
          <p:cNvSpPr/>
          <p:nvPr/>
        </p:nvSpPr>
        <p:spPr>
          <a:xfrm>
            <a:off x="2121480" y="4521600"/>
            <a:ext cx="72720" cy="22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Rounded Rectangle 41"/>
          <p:cNvSpPr/>
          <p:nvPr/>
        </p:nvSpPr>
        <p:spPr>
          <a:xfrm>
            <a:off x="2322720" y="4384440"/>
            <a:ext cx="72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ounded Rectangle 42"/>
          <p:cNvSpPr/>
          <p:nvPr/>
        </p:nvSpPr>
        <p:spPr>
          <a:xfrm>
            <a:off x="2523600" y="4247280"/>
            <a:ext cx="7272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Rounded Rectangle 43"/>
          <p:cNvSpPr/>
          <p:nvPr/>
        </p:nvSpPr>
        <p:spPr>
          <a:xfrm>
            <a:off x="2724840" y="4384440"/>
            <a:ext cx="72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Rounded Rectangle 44"/>
          <p:cNvSpPr/>
          <p:nvPr/>
        </p:nvSpPr>
        <p:spPr>
          <a:xfrm>
            <a:off x="2926080" y="4521600"/>
            <a:ext cx="72720" cy="228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45"/>
          <p:cNvSpPr/>
          <p:nvPr/>
        </p:nvSpPr>
        <p:spPr>
          <a:xfrm>
            <a:off x="841320" y="523044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4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46"/>
          <p:cNvSpPr/>
          <p:nvPr/>
        </p:nvSpPr>
        <p:spPr>
          <a:xfrm>
            <a:off x="1161360" y="520308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4f6f8"/>
                </a:solidFill>
                <a:latin typeface="Inter"/>
              </a:rPr>
              <a:t>Абстрактная закладка + волна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ounded Rectangle 47"/>
          <p:cNvSpPr/>
          <p:nvPr/>
        </p:nvSpPr>
        <p:spPr>
          <a:xfrm>
            <a:off x="4361760" y="381312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56"/>
          <p:cNvSpPr/>
          <p:nvPr/>
        </p:nvSpPr>
        <p:spPr>
          <a:xfrm>
            <a:off x="4544640" y="523044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5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57"/>
          <p:cNvSpPr/>
          <p:nvPr/>
        </p:nvSpPr>
        <p:spPr>
          <a:xfrm>
            <a:off x="4864680" y="520308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4f6f8"/>
                </a:solidFill>
                <a:latin typeface="Inter"/>
              </a:rPr>
              <a:t>Два состояния: текст / звук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ounded Rectangle 58"/>
          <p:cNvSpPr/>
          <p:nvPr/>
        </p:nvSpPr>
        <p:spPr>
          <a:xfrm>
            <a:off x="8065080" y="3813120"/>
            <a:ext cx="3364560" cy="1874160"/>
          </a:xfrm>
          <a:prstGeom prst="roundRect">
            <a:avLst>
              <a:gd name="adj" fmla="val 16667"/>
            </a:avLst>
          </a:prstGeom>
          <a:solidFill>
            <a:srgbClr val="14182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66"/>
          <p:cNvSpPr/>
          <p:nvPr/>
        </p:nvSpPr>
        <p:spPr>
          <a:xfrm>
            <a:off x="8247960" y="5230440"/>
            <a:ext cx="22824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6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67"/>
          <p:cNvSpPr/>
          <p:nvPr/>
        </p:nvSpPr>
        <p:spPr>
          <a:xfrm>
            <a:off x="8568000" y="5203080"/>
            <a:ext cx="25599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4f6f8"/>
                </a:solidFill>
                <a:latin typeface="Inter"/>
              </a:rPr>
              <a:t>Модульные блоки + линия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14" name="Connector 69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315" name="TextBox 70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71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10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Picture 73" descr=""/>
          <p:cNvPicPr/>
          <p:nvPr/>
        </p:nvPicPr>
        <p:blipFill>
          <a:blip r:embed="rId1"/>
          <a:srcRect l="11047" t="38129" r="15787" b="21665"/>
          <a:stretch/>
        </p:blipFill>
        <p:spPr>
          <a:xfrm>
            <a:off x="5147280" y="4007880"/>
            <a:ext cx="1634040" cy="1198440"/>
          </a:xfrm>
          <a:prstGeom prst="rect">
            <a:avLst/>
          </a:prstGeom>
          <a:ln w="0">
            <a:noFill/>
          </a:ln>
        </p:spPr>
      </p:pic>
      <p:pic>
        <p:nvPicPr>
          <p:cNvPr id="318" name="Picture 75" descr=""/>
          <p:cNvPicPr/>
          <p:nvPr/>
        </p:nvPicPr>
        <p:blipFill>
          <a:blip r:embed="rId2"/>
          <a:srcRect l="13704" t="27981" r="15405" b="26878"/>
          <a:stretch/>
        </p:blipFill>
        <p:spPr>
          <a:xfrm>
            <a:off x="9085680" y="1682640"/>
            <a:ext cx="1375920" cy="1169640"/>
          </a:xfrm>
          <a:prstGeom prst="rect">
            <a:avLst/>
          </a:prstGeom>
          <a:ln w="0">
            <a:noFill/>
          </a:ln>
        </p:spPr>
      </p:pic>
      <p:pic>
        <p:nvPicPr>
          <p:cNvPr id="319" name="Picture 77" descr=""/>
          <p:cNvPicPr/>
          <p:nvPr/>
        </p:nvPicPr>
        <p:blipFill>
          <a:blip r:embed="rId3"/>
          <a:srcRect l="0" t="26664" r="0" b="24664"/>
          <a:stretch/>
        </p:blipFill>
        <p:spPr>
          <a:xfrm>
            <a:off x="8752320" y="3946680"/>
            <a:ext cx="1990440" cy="1293120"/>
          </a:xfrm>
          <a:prstGeom prst="rect">
            <a:avLst/>
          </a:prstGeom>
          <a:ln w="0">
            <a:noFill/>
          </a:ln>
        </p:spPr>
      </p:pic>
      <p:pic>
        <p:nvPicPr>
          <p:cNvPr id="320" name="Picture 83" descr=""/>
          <p:cNvPicPr/>
          <p:nvPr/>
        </p:nvPicPr>
        <p:blipFill>
          <a:blip r:embed="rId4"/>
          <a:srcRect l="10493" t="34797" r="14563" b="31461"/>
          <a:stretch/>
        </p:blipFill>
        <p:spPr>
          <a:xfrm>
            <a:off x="4904280" y="1648080"/>
            <a:ext cx="2169720" cy="1303560"/>
          </a:xfrm>
          <a:prstGeom prst="rect">
            <a:avLst/>
          </a:prstGeom>
          <a:ln w="0">
            <a:noFill/>
          </a:ln>
        </p:spPr>
      </p:pic>
      <p:pic>
        <p:nvPicPr>
          <p:cNvPr id="321" name="Picture 87" descr=""/>
          <p:cNvPicPr/>
          <p:nvPr/>
        </p:nvPicPr>
        <p:blipFill>
          <a:blip r:embed="rId5"/>
          <a:srcRect l="476" t="34635" r="-476" b="24930"/>
          <a:stretch/>
        </p:blipFill>
        <p:spPr>
          <a:xfrm>
            <a:off x="1091160" y="3971160"/>
            <a:ext cx="2184480" cy="1179000"/>
          </a:xfrm>
          <a:prstGeom prst="rect">
            <a:avLst/>
          </a:prstGeom>
          <a:ln w="0">
            <a:noFill/>
          </a:ln>
        </p:spPr>
      </p:pic>
      <p:pic>
        <p:nvPicPr>
          <p:cNvPr id="322" name="Picture 88" descr=""/>
          <p:cNvPicPr/>
          <p:nvPr/>
        </p:nvPicPr>
        <p:blipFill>
          <a:blip r:embed="rId6"/>
          <a:srcRect l="8236" t="26648" r="2800" b="21532"/>
          <a:stretch/>
        </p:blipFill>
        <p:spPr>
          <a:xfrm>
            <a:off x="1730160" y="1711800"/>
            <a:ext cx="1609920" cy="139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10. Выбранная концепция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TEXT→SOUND: три текстовые строки переходят в волну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ounded Rectangle 4"/>
          <p:cNvSpPr/>
          <p:nvPr/>
        </p:nvSpPr>
        <p:spPr>
          <a:xfrm>
            <a:off x="1005840" y="2148840"/>
            <a:ext cx="2011320" cy="1458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Rounded Rectangle 5"/>
          <p:cNvSpPr/>
          <p:nvPr/>
        </p:nvSpPr>
        <p:spPr>
          <a:xfrm>
            <a:off x="1005840" y="2578680"/>
            <a:ext cx="1691280" cy="1458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Rounded Rectangle 6"/>
          <p:cNvSpPr/>
          <p:nvPr/>
        </p:nvSpPr>
        <p:spPr>
          <a:xfrm>
            <a:off x="1005840" y="3008520"/>
            <a:ext cx="1325520" cy="1458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ounded Rectangle 7"/>
          <p:cNvSpPr/>
          <p:nvPr/>
        </p:nvSpPr>
        <p:spPr>
          <a:xfrm>
            <a:off x="3429000" y="2423160"/>
            <a:ext cx="12780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Rounded Rectangle 8"/>
          <p:cNvSpPr/>
          <p:nvPr/>
        </p:nvSpPr>
        <p:spPr>
          <a:xfrm>
            <a:off x="3749040" y="221292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1" name="Rounded Rectangle 9"/>
          <p:cNvSpPr/>
          <p:nvPr/>
        </p:nvSpPr>
        <p:spPr>
          <a:xfrm>
            <a:off x="4069080" y="1993320"/>
            <a:ext cx="1278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Rounded Rectangle 10"/>
          <p:cNvSpPr/>
          <p:nvPr/>
        </p:nvSpPr>
        <p:spPr>
          <a:xfrm>
            <a:off x="4389120" y="2212920"/>
            <a:ext cx="12780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Rounded Rectangle 11"/>
          <p:cNvSpPr/>
          <p:nvPr/>
        </p:nvSpPr>
        <p:spPr>
          <a:xfrm>
            <a:off x="4709160" y="2423160"/>
            <a:ext cx="12780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12"/>
          <p:cNvSpPr/>
          <p:nvPr/>
        </p:nvSpPr>
        <p:spPr>
          <a:xfrm>
            <a:off x="5486400" y="2331720"/>
            <a:ext cx="4937400" cy="5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3100" spc="-1" strike="noStrike">
                <a:solidFill>
                  <a:srgbClr val="f4f6f8"/>
                </a:solidFill>
                <a:latin typeface="Inter"/>
              </a:rPr>
              <a:t>BookReader</a:t>
            </a:r>
            <a:endParaRPr b="0" lang="ru-RU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3"/>
          <p:cNvSpPr/>
          <p:nvPr/>
        </p:nvSpPr>
        <p:spPr>
          <a:xfrm>
            <a:off x="5486400" y="3154680"/>
            <a:ext cx="2285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Почему работает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14"/>
          <p:cNvSpPr/>
          <p:nvPr/>
        </p:nvSpPr>
        <p:spPr>
          <a:xfrm>
            <a:off x="5486400" y="3529440"/>
            <a:ext cx="5120280" cy="10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• </a:t>
            </a: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объединяет чтение и слушание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• </a:t>
            </a: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не использует буквальную книгу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• </a:t>
            </a: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сохраняет простую геометрию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• </a:t>
            </a:r>
            <a:r>
              <a:rPr b="0" lang="en-US" sz="1500" spc="-1" strike="noStrike">
                <a:solidFill>
                  <a:srgbClr val="f4f6f8"/>
                </a:solidFill>
                <a:latin typeface="Inter"/>
              </a:rPr>
              <a:t>масштабируется до иконки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7" name="Connector 15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338" name="TextBox 16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17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12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11. Финальный логотип и проверки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Цветной, ч/б, светлый фон, тёмный фон, уменьшенная версия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4"/>
          <p:cNvSpPr/>
          <p:nvPr/>
        </p:nvSpPr>
        <p:spPr>
          <a:xfrm>
            <a:off x="685800" y="155448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Rounded Rectangle 5"/>
          <p:cNvSpPr/>
          <p:nvPr/>
        </p:nvSpPr>
        <p:spPr>
          <a:xfrm>
            <a:off x="1005840" y="2057400"/>
            <a:ext cx="1142640" cy="10008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Rounded Rectangle 6"/>
          <p:cNvSpPr/>
          <p:nvPr/>
        </p:nvSpPr>
        <p:spPr>
          <a:xfrm>
            <a:off x="1005840" y="2377440"/>
            <a:ext cx="959760" cy="10008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Rounded Rectangle 7"/>
          <p:cNvSpPr/>
          <p:nvPr/>
        </p:nvSpPr>
        <p:spPr>
          <a:xfrm>
            <a:off x="1005840" y="2697480"/>
            <a:ext cx="731160" cy="10008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Rounded Rectangle 8"/>
          <p:cNvSpPr/>
          <p:nvPr/>
        </p:nvSpPr>
        <p:spPr>
          <a:xfrm>
            <a:off x="2331720" y="2249280"/>
            <a:ext cx="82080" cy="3654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Rounded Rectangle 9"/>
          <p:cNvSpPr/>
          <p:nvPr/>
        </p:nvSpPr>
        <p:spPr>
          <a:xfrm>
            <a:off x="2496240" y="2112120"/>
            <a:ext cx="82080" cy="685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Rounded Rectangle 10"/>
          <p:cNvSpPr/>
          <p:nvPr/>
        </p:nvSpPr>
        <p:spPr>
          <a:xfrm>
            <a:off x="2660760" y="1984320"/>
            <a:ext cx="82080" cy="95976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Rounded Rectangle 11"/>
          <p:cNvSpPr/>
          <p:nvPr/>
        </p:nvSpPr>
        <p:spPr>
          <a:xfrm>
            <a:off x="2825640" y="2112120"/>
            <a:ext cx="82080" cy="685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ounded Rectangle 12"/>
          <p:cNvSpPr/>
          <p:nvPr/>
        </p:nvSpPr>
        <p:spPr>
          <a:xfrm>
            <a:off x="2990160" y="2249280"/>
            <a:ext cx="82080" cy="36540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2" name="TextBox 13"/>
          <p:cNvSpPr/>
          <p:nvPr/>
        </p:nvSpPr>
        <p:spPr>
          <a:xfrm>
            <a:off x="3246120" y="212148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f1115"/>
                </a:solidFill>
                <a:latin typeface="Inter"/>
              </a:rPr>
              <a:t>BookReader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ounded Rectangle 14"/>
          <p:cNvSpPr/>
          <p:nvPr/>
        </p:nvSpPr>
        <p:spPr>
          <a:xfrm>
            <a:off x="685800" y="3657600"/>
            <a:ext cx="5166000" cy="182844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ounded Rectangle 15"/>
          <p:cNvSpPr/>
          <p:nvPr/>
        </p:nvSpPr>
        <p:spPr>
          <a:xfrm>
            <a:off x="1005840" y="4160520"/>
            <a:ext cx="1142640" cy="1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Rounded Rectangle 16"/>
          <p:cNvSpPr/>
          <p:nvPr/>
        </p:nvSpPr>
        <p:spPr>
          <a:xfrm>
            <a:off x="1005840" y="4480560"/>
            <a:ext cx="959760" cy="1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6" name="Rounded Rectangle 17"/>
          <p:cNvSpPr/>
          <p:nvPr/>
        </p:nvSpPr>
        <p:spPr>
          <a:xfrm>
            <a:off x="1005840" y="4800600"/>
            <a:ext cx="731160" cy="10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Rounded Rectangle 18"/>
          <p:cNvSpPr/>
          <p:nvPr/>
        </p:nvSpPr>
        <p:spPr>
          <a:xfrm>
            <a:off x="2331720" y="4352400"/>
            <a:ext cx="820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Rounded Rectangle 19"/>
          <p:cNvSpPr/>
          <p:nvPr/>
        </p:nvSpPr>
        <p:spPr>
          <a:xfrm>
            <a:off x="2496240" y="4215240"/>
            <a:ext cx="8208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Rounded Rectangle 20"/>
          <p:cNvSpPr/>
          <p:nvPr/>
        </p:nvSpPr>
        <p:spPr>
          <a:xfrm>
            <a:off x="2660760" y="4087440"/>
            <a:ext cx="8208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Rounded Rectangle 21"/>
          <p:cNvSpPr/>
          <p:nvPr/>
        </p:nvSpPr>
        <p:spPr>
          <a:xfrm>
            <a:off x="2825640" y="4215240"/>
            <a:ext cx="82080" cy="68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ounded Rectangle 22"/>
          <p:cNvSpPr/>
          <p:nvPr/>
        </p:nvSpPr>
        <p:spPr>
          <a:xfrm>
            <a:off x="2990160" y="4352400"/>
            <a:ext cx="82080" cy="36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23"/>
          <p:cNvSpPr/>
          <p:nvPr/>
        </p:nvSpPr>
        <p:spPr>
          <a:xfrm>
            <a:off x="3246120" y="4224600"/>
            <a:ext cx="2102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Inter"/>
              </a:rPr>
              <a:t>BookReader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ounded Rectangle 24"/>
          <p:cNvSpPr/>
          <p:nvPr/>
        </p:nvSpPr>
        <p:spPr>
          <a:xfrm>
            <a:off x="6400800" y="1572840"/>
            <a:ext cx="4571640" cy="1096920"/>
          </a:xfrm>
          <a:prstGeom prst="roundRect">
            <a:avLst>
              <a:gd name="adj" fmla="val 16667"/>
            </a:avLst>
          </a:prstGeom>
          <a:solidFill>
            <a:srgbClr val="f0f2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4" name="Rounded Rectangle 25"/>
          <p:cNvSpPr/>
          <p:nvPr/>
        </p:nvSpPr>
        <p:spPr>
          <a:xfrm>
            <a:off x="6720840" y="1883520"/>
            <a:ext cx="914040" cy="8208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ounded Rectangle 26"/>
          <p:cNvSpPr/>
          <p:nvPr/>
        </p:nvSpPr>
        <p:spPr>
          <a:xfrm>
            <a:off x="6720840" y="2130480"/>
            <a:ext cx="712800" cy="8208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ounded Rectangle 27"/>
          <p:cNvSpPr/>
          <p:nvPr/>
        </p:nvSpPr>
        <p:spPr>
          <a:xfrm>
            <a:off x="6720840" y="2377440"/>
            <a:ext cx="502560" cy="8208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Rounded Rectangle 28"/>
          <p:cNvSpPr/>
          <p:nvPr/>
        </p:nvSpPr>
        <p:spPr>
          <a:xfrm>
            <a:off x="7863840" y="2011680"/>
            <a:ext cx="63720" cy="2556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8" name="Rounded Rectangle 29"/>
          <p:cNvSpPr/>
          <p:nvPr/>
        </p:nvSpPr>
        <p:spPr>
          <a:xfrm>
            <a:off x="8028360" y="1874520"/>
            <a:ext cx="63720" cy="50256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ounded Rectangle 30"/>
          <p:cNvSpPr/>
          <p:nvPr/>
        </p:nvSpPr>
        <p:spPr>
          <a:xfrm>
            <a:off x="8192880" y="1737360"/>
            <a:ext cx="63720" cy="73116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Rounded Rectangle 31"/>
          <p:cNvSpPr/>
          <p:nvPr/>
        </p:nvSpPr>
        <p:spPr>
          <a:xfrm>
            <a:off x="8357760" y="1874520"/>
            <a:ext cx="63720" cy="50256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Rounded Rectangle 32"/>
          <p:cNvSpPr/>
          <p:nvPr/>
        </p:nvSpPr>
        <p:spPr>
          <a:xfrm>
            <a:off x="8522280" y="2011680"/>
            <a:ext cx="63720" cy="2556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33"/>
          <p:cNvSpPr/>
          <p:nvPr/>
        </p:nvSpPr>
        <p:spPr>
          <a:xfrm>
            <a:off x="8961120" y="1938600"/>
            <a:ext cx="1599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f1115"/>
                </a:solidFill>
                <a:latin typeface="Inter"/>
              </a:rPr>
              <a:t>монохромная версия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ounded Rectangle 34"/>
          <p:cNvSpPr/>
          <p:nvPr/>
        </p:nvSpPr>
        <p:spPr>
          <a:xfrm>
            <a:off x="6400800" y="2944440"/>
            <a:ext cx="2011320" cy="201132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Rounded Rectangle 35"/>
          <p:cNvSpPr/>
          <p:nvPr/>
        </p:nvSpPr>
        <p:spPr>
          <a:xfrm>
            <a:off x="6720840" y="3520440"/>
            <a:ext cx="685440" cy="82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Rounded Rectangle 36"/>
          <p:cNvSpPr/>
          <p:nvPr/>
        </p:nvSpPr>
        <p:spPr>
          <a:xfrm>
            <a:off x="6720840" y="3794760"/>
            <a:ext cx="566640" cy="82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ounded Rectangle 37"/>
          <p:cNvSpPr/>
          <p:nvPr/>
        </p:nvSpPr>
        <p:spPr>
          <a:xfrm>
            <a:off x="6720840" y="4069080"/>
            <a:ext cx="429480" cy="82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9160" bIns="2916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Rounded Rectangle 38"/>
          <p:cNvSpPr/>
          <p:nvPr/>
        </p:nvSpPr>
        <p:spPr>
          <a:xfrm>
            <a:off x="7498080" y="365760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8" name="Rounded Rectangle 39"/>
          <p:cNvSpPr/>
          <p:nvPr/>
        </p:nvSpPr>
        <p:spPr>
          <a:xfrm>
            <a:off x="7635240" y="3520440"/>
            <a:ext cx="63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ounded Rectangle 40"/>
          <p:cNvSpPr/>
          <p:nvPr/>
        </p:nvSpPr>
        <p:spPr>
          <a:xfrm>
            <a:off x="7772400" y="3364920"/>
            <a:ext cx="6372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Rounded Rectangle 41"/>
          <p:cNvSpPr/>
          <p:nvPr/>
        </p:nvSpPr>
        <p:spPr>
          <a:xfrm>
            <a:off x="7909560" y="3520440"/>
            <a:ext cx="63720" cy="502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Rounded Rectangle 42"/>
          <p:cNvSpPr/>
          <p:nvPr/>
        </p:nvSpPr>
        <p:spPr>
          <a:xfrm>
            <a:off x="8046720" y="3657600"/>
            <a:ext cx="63720" cy="273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43"/>
          <p:cNvSpPr/>
          <p:nvPr/>
        </p:nvSpPr>
        <p:spPr>
          <a:xfrm>
            <a:off x="6629400" y="5074920"/>
            <a:ext cx="1462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9aa4b2"/>
                </a:solidFill>
                <a:latin typeface="Inter"/>
              </a:rPr>
              <a:t>иконка 1:1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44"/>
          <p:cNvSpPr/>
          <p:nvPr/>
        </p:nvSpPr>
        <p:spPr>
          <a:xfrm>
            <a:off x="8732520" y="2944440"/>
            <a:ext cx="2239920" cy="2011320"/>
          </a:xfrm>
          <a:prstGeom prst="roundRect">
            <a:avLst>
              <a:gd name="adj" fmla="val 16667"/>
            </a:avLst>
          </a:prstGeom>
          <a:solidFill>
            <a:srgbClr val="1215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TextBox 45"/>
          <p:cNvSpPr/>
          <p:nvPr/>
        </p:nvSpPr>
        <p:spPr>
          <a:xfrm>
            <a:off x="8961120" y="3246120"/>
            <a:ext cx="1737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600" spc="-1" strike="noStrike">
                <a:solidFill>
                  <a:srgbClr val="f4f6f8"/>
                </a:solidFill>
                <a:latin typeface="Inter"/>
              </a:rPr>
              <a:t>24 px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46"/>
          <p:cNvSpPr/>
          <p:nvPr/>
        </p:nvSpPr>
        <p:spPr>
          <a:xfrm>
            <a:off x="8961120" y="3840480"/>
            <a:ext cx="17370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9aa4b2"/>
                </a:solidFill>
                <a:latin typeface="Inter"/>
              </a:rPr>
              <a:t>минимальный тест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6" name="Connector 47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387" name="TextBox 48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ПР14 • BookReader • 30.09.2026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49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13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11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TextBox 2"/>
          <p:cNvSpPr/>
          <p:nvPr/>
        </p:nvSpPr>
        <p:spPr>
          <a:xfrm>
            <a:off x="640080" y="502920"/>
            <a:ext cx="108810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f4f6f8"/>
                </a:solidFill>
                <a:latin typeface="Inter"/>
              </a:rPr>
              <a:t>12. Проверка применения и вывод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Box 3"/>
          <p:cNvSpPr/>
          <p:nvPr/>
        </p:nvSpPr>
        <p:spPr>
          <a:xfrm>
            <a:off x="640080" y="1078920"/>
            <a:ext cx="108810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9aa4b2"/>
                </a:solidFill>
                <a:latin typeface="Inter"/>
              </a:rPr>
              <a:t>Логотип готов к базовым цифровым носителям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Rounded Rectangle 4"/>
          <p:cNvSpPr/>
          <p:nvPr/>
        </p:nvSpPr>
        <p:spPr>
          <a:xfrm>
            <a:off x="777240" y="1554480"/>
            <a:ext cx="1965600" cy="4114440"/>
          </a:xfrm>
          <a:prstGeom prst="roundRect">
            <a:avLst>
              <a:gd name="adj" fmla="val 16667"/>
            </a:avLst>
          </a:prstGeom>
          <a:solidFill>
            <a:srgbClr val="090b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3" name="Rounded Rectangle 5"/>
          <p:cNvSpPr/>
          <p:nvPr/>
        </p:nvSpPr>
        <p:spPr>
          <a:xfrm>
            <a:off x="896040" y="1719000"/>
            <a:ext cx="1728000" cy="37486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Rounded Rectangle 6"/>
          <p:cNvSpPr/>
          <p:nvPr/>
        </p:nvSpPr>
        <p:spPr>
          <a:xfrm>
            <a:off x="3154680" y="1554480"/>
            <a:ext cx="1965600" cy="4114440"/>
          </a:xfrm>
          <a:prstGeom prst="roundRect">
            <a:avLst>
              <a:gd name="adj" fmla="val 16667"/>
            </a:avLst>
          </a:prstGeom>
          <a:solidFill>
            <a:srgbClr val="090b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Rounded Rectangle 7"/>
          <p:cNvSpPr/>
          <p:nvPr/>
        </p:nvSpPr>
        <p:spPr>
          <a:xfrm>
            <a:off x="3273480" y="1719000"/>
            <a:ext cx="1728000" cy="37486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Rounded Rectangle 8"/>
          <p:cNvSpPr/>
          <p:nvPr/>
        </p:nvSpPr>
        <p:spPr>
          <a:xfrm>
            <a:off x="5532120" y="1554480"/>
            <a:ext cx="1965600" cy="4114440"/>
          </a:xfrm>
          <a:prstGeom prst="roundRect">
            <a:avLst>
              <a:gd name="adj" fmla="val 16667"/>
            </a:avLst>
          </a:prstGeom>
          <a:solidFill>
            <a:srgbClr val="090b0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Rounded Rectangle 9"/>
          <p:cNvSpPr/>
          <p:nvPr/>
        </p:nvSpPr>
        <p:spPr>
          <a:xfrm>
            <a:off x="5650920" y="1719000"/>
            <a:ext cx="1728000" cy="3748680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10"/>
          <p:cNvSpPr/>
          <p:nvPr/>
        </p:nvSpPr>
        <p:spPr>
          <a:xfrm>
            <a:off x="987480" y="1901880"/>
            <a:ext cx="11883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4f6f8"/>
                </a:solidFill>
                <a:latin typeface="Inter"/>
              </a:rPr>
              <a:t>Library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ounded Rectangle 11"/>
          <p:cNvSpPr/>
          <p:nvPr/>
        </p:nvSpPr>
        <p:spPr>
          <a:xfrm>
            <a:off x="987480" y="2395800"/>
            <a:ext cx="1279800" cy="822600"/>
          </a:xfrm>
          <a:prstGeom prst="roundRect">
            <a:avLst>
              <a:gd name="adj" fmla="val 16667"/>
            </a:avLst>
          </a:prstGeom>
          <a:solidFill>
            <a:srgbClr val="2429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ounded Rectangle 12"/>
          <p:cNvSpPr/>
          <p:nvPr/>
        </p:nvSpPr>
        <p:spPr>
          <a:xfrm>
            <a:off x="987480" y="3401640"/>
            <a:ext cx="1279800" cy="822600"/>
          </a:xfrm>
          <a:prstGeom prst="roundRect">
            <a:avLst>
              <a:gd name="adj" fmla="val 16667"/>
            </a:avLst>
          </a:prstGeom>
          <a:solidFill>
            <a:srgbClr val="252c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Rounded Rectangle 13"/>
          <p:cNvSpPr/>
          <p:nvPr/>
        </p:nvSpPr>
        <p:spPr>
          <a:xfrm>
            <a:off x="1298520" y="2560320"/>
            <a:ext cx="658080" cy="109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Rounded Rectangle 14"/>
          <p:cNvSpPr/>
          <p:nvPr/>
        </p:nvSpPr>
        <p:spPr>
          <a:xfrm>
            <a:off x="1298520" y="3566160"/>
            <a:ext cx="548280" cy="109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15"/>
          <p:cNvSpPr/>
          <p:nvPr/>
        </p:nvSpPr>
        <p:spPr>
          <a:xfrm>
            <a:off x="3383280" y="1920240"/>
            <a:ext cx="118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9aa4b2"/>
                </a:solidFill>
                <a:latin typeface="Inter"/>
              </a:rPr>
              <a:t>Chapter 04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6"/>
          <p:cNvSpPr/>
          <p:nvPr/>
        </p:nvSpPr>
        <p:spPr>
          <a:xfrm>
            <a:off x="3383280" y="2359080"/>
            <a:ext cx="11883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4f6f8"/>
                </a:solidFill>
                <a:latin typeface="Inter"/>
              </a:rPr>
              <a:t>Текст книги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5" name="Connector 17"/>
          <p:cNvCxnSpPr/>
          <p:nvPr/>
        </p:nvCxnSpPr>
        <p:spPr>
          <a:xfrm>
            <a:off x="3383280" y="292608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06" name="Connector 18"/>
          <p:cNvCxnSpPr/>
          <p:nvPr/>
        </p:nvCxnSpPr>
        <p:spPr>
          <a:xfrm>
            <a:off x="3383280" y="320040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07" name="Connector 19"/>
          <p:cNvCxnSpPr/>
          <p:nvPr/>
        </p:nvCxnSpPr>
        <p:spPr>
          <a:xfrm>
            <a:off x="3383280" y="347472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08" name="Connector 20"/>
          <p:cNvCxnSpPr/>
          <p:nvPr/>
        </p:nvCxnSpPr>
        <p:spPr>
          <a:xfrm>
            <a:off x="3383280" y="374868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09" name="Connector 21"/>
          <p:cNvCxnSpPr/>
          <p:nvPr/>
        </p:nvCxnSpPr>
        <p:spPr>
          <a:xfrm>
            <a:off x="3383280" y="402336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10" name="Connector 22"/>
          <p:cNvCxnSpPr/>
          <p:nvPr/>
        </p:nvCxnSpPr>
        <p:spPr>
          <a:xfrm>
            <a:off x="3383280" y="429768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cxnSp>
        <p:nvCxnSpPr>
          <p:cNvPr id="411" name="Connector 23"/>
          <p:cNvCxnSpPr/>
          <p:nvPr/>
        </p:nvCxnSpPr>
        <p:spPr>
          <a:xfrm>
            <a:off x="3383280" y="4572000"/>
            <a:ext cx="1326240" cy="360"/>
          </a:xfrm>
          <a:prstGeom prst="straightConnector1">
            <a:avLst/>
          </a:prstGeom>
          <a:ln w="12700">
            <a:solidFill>
              <a:srgbClr val="9aa4b2"/>
            </a:solidFill>
            <a:round/>
          </a:ln>
        </p:spPr>
      </p:cxnSp>
      <p:sp>
        <p:nvSpPr>
          <p:cNvPr id="412" name="Rounded Rectangle 24"/>
          <p:cNvSpPr/>
          <p:nvPr/>
        </p:nvSpPr>
        <p:spPr>
          <a:xfrm>
            <a:off x="4160520" y="4983480"/>
            <a:ext cx="502560" cy="20088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TextBox 25"/>
          <p:cNvSpPr/>
          <p:nvPr/>
        </p:nvSpPr>
        <p:spPr>
          <a:xfrm>
            <a:off x="5760720" y="1920240"/>
            <a:ext cx="73116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498f5"/>
                </a:solidFill>
                <a:latin typeface="Inter"/>
              </a:rPr>
              <a:t>TTS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26"/>
          <p:cNvSpPr/>
          <p:nvPr/>
        </p:nvSpPr>
        <p:spPr>
          <a:xfrm>
            <a:off x="5760720" y="2395800"/>
            <a:ext cx="1234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4f6f8"/>
                </a:solidFill>
                <a:latin typeface="Inter"/>
              </a:rPr>
              <a:t>Слушать</a:t>
            </a:r>
            <a:endParaRPr b="0" lang="ru-RU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Rounded Rectangle 27"/>
          <p:cNvSpPr/>
          <p:nvPr/>
        </p:nvSpPr>
        <p:spPr>
          <a:xfrm>
            <a:off x="5806440" y="3063240"/>
            <a:ext cx="1234080" cy="109440"/>
          </a:xfrm>
          <a:prstGeom prst="roundRect">
            <a:avLst>
              <a:gd name="adj" fmla="val 16667"/>
            </a:avLst>
          </a:prstGeom>
          <a:solidFill>
            <a:srgbClr val="3498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Rounded Rectangle 28"/>
          <p:cNvSpPr/>
          <p:nvPr/>
        </p:nvSpPr>
        <p:spPr>
          <a:xfrm>
            <a:off x="5806440" y="3529440"/>
            <a:ext cx="914040" cy="109440"/>
          </a:xfrm>
          <a:prstGeom prst="roundRect">
            <a:avLst>
              <a:gd name="adj" fmla="val 16667"/>
            </a:avLst>
          </a:prstGeom>
          <a:solidFill>
            <a:srgbClr val="9aa4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Rounded Rectangle 29"/>
          <p:cNvSpPr/>
          <p:nvPr/>
        </p:nvSpPr>
        <p:spPr>
          <a:xfrm>
            <a:off x="5806440" y="3996000"/>
            <a:ext cx="639720" cy="109440"/>
          </a:xfrm>
          <a:prstGeom prst="roundRect">
            <a:avLst>
              <a:gd name="adj" fmla="val 16667"/>
            </a:avLst>
          </a:prstGeom>
          <a:solidFill>
            <a:srgbClr val="9aa4b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30"/>
          <p:cNvSpPr/>
          <p:nvPr/>
        </p:nvSpPr>
        <p:spPr>
          <a:xfrm>
            <a:off x="8092440" y="1691640"/>
            <a:ext cx="2742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3498f5"/>
                </a:solidFill>
                <a:latin typeface="Inter"/>
              </a:rPr>
              <a:t>Вывод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31"/>
          <p:cNvSpPr/>
          <p:nvPr/>
        </p:nvSpPr>
        <p:spPr>
          <a:xfrm>
            <a:off x="8092440" y="2148840"/>
            <a:ext cx="2971440" cy="13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4f6f8"/>
                </a:solidFill>
                <a:latin typeface="Inter"/>
              </a:rPr>
              <a:t>Логотип поддерживает ТЗ: минимализм, порядок, технологичность, читаемость. Основной дифференциатор - связка текста и звука.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32"/>
          <p:cNvSpPr/>
          <p:nvPr/>
        </p:nvSpPr>
        <p:spPr>
          <a:xfrm>
            <a:off x="8092440" y="3886200"/>
            <a:ext cx="29257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Источники анализа конкурентов: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ReadEra - Google Play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FBReader - fbreader.org/ru/android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Moon+ Reader - Google Play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Kindle - Google Play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9aa4b2"/>
                </a:solidFill>
                <a:latin typeface="Inter"/>
              </a:rPr>
              <a:t>PocketBook - Google Play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33"/>
          <p:cNvSpPr/>
          <p:nvPr/>
        </p:nvSpPr>
        <p:spPr>
          <a:xfrm>
            <a:off x="8092440" y="5394960"/>
            <a:ext cx="29257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3498f5"/>
                </a:solidFill>
                <a:latin typeface="Inter"/>
              </a:rPr>
              <a:t>Ручной этап: 6 эскизов на бумаге → фото → вставка в этот слайд перед сдачей.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22" name="Connector 34"/>
          <p:cNvCxnSpPr/>
          <p:nvPr/>
        </p:nvCxnSpPr>
        <p:spPr>
          <a:xfrm>
            <a:off x="548640" y="6473880"/>
            <a:ext cx="11082600" cy="360"/>
          </a:xfrm>
          <a:prstGeom prst="straightConnector1">
            <a:avLst/>
          </a:prstGeom>
          <a:ln w="12700">
            <a:solidFill>
              <a:srgbClr val="171a21"/>
            </a:solidFill>
            <a:round/>
          </a:ln>
        </p:spPr>
      </p:cxnSp>
      <p:sp>
        <p:nvSpPr>
          <p:cNvPr id="423" name="TextBox 35"/>
          <p:cNvSpPr/>
          <p:nvPr/>
        </p:nvSpPr>
        <p:spPr>
          <a:xfrm>
            <a:off x="567000" y="6510600"/>
            <a:ext cx="804636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Источники: play.google.com; fbreader.org/ru/android. Данные проверены 30.09.2026.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Box 36"/>
          <p:cNvSpPr/>
          <p:nvPr/>
        </p:nvSpPr>
        <p:spPr>
          <a:xfrm>
            <a:off x="11109960" y="6492240"/>
            <a:ext cx="4568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0" lang="en-US" sz="800" spc="-1" strike="noStrike">
                <a:solidFill>
                  <a:srgbClr val="9aa4b2"/>
                </a:solidFill>
                <a:latin typeface="Inter"/>
              </a:rPr>
              <a:t>14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Application>LibreOffice/7.5.6.2$Linux_X86_64 LibreOffice_project/50$Build-2</Application>
  <AppVersion>15.0000</AppVersion>
  <Words>794</Words>
  <Paragraphs>180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2026-10-01T13:54:43Z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