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o has" initials="lh" lastIdx="1" clrIdx="0">
    <p:extLst>
      <p:ext uri="{19B8F6BF-5375-455C-9EA6-DF929625EA0E}">
        <p15:presenceInfo xmlns:p15="http://schemas.microsoft.com/office/powerpoint/2012/main" userId="10493734fafed0b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5" d="100"/>
          <a:sy n="145" d="100"/>
        </p:scale>
        <p:origin x="150" y="3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9-30T14:23:08.603" idx="1">
    <p:pos x="4202" y="320"/>
    <p:text/>
    <p:extLst>
      <p:ext uri="{C676402C-5697-4E1C-873F-D02D1690AC5C}">
        <p15:threadingInfo xmlns:p15="http://schemas.microsoft.com/office/powerpoint/2012/main" timeZoneBias="-24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omments" Target="../comments/comment1.xml"/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5486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4F6F8"/>
                </a:solidFill>
                <a:latin typeface="Inter"/>
              </a:rPr>
              <a:t>BOOKREADER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498F5"/>
                </a:solidFill>
                <a:latin typeface="Inter"/>
              </a:rPr>
              <a:t>Практическая работа №14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4F6F8"/>
                </a:solidFill>
                <a:latin typeface="Inter"/>
              </a:rPr>
              <a:t>Разработка логотипа для проекта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6583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AA4B2"/>
                </a:solidFill>
                <a:latin typeface="Inter"/>
              </a:rPr>
              <a:t>От анализа и ассоциаций до финального знака и проверки применения.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103120"/>
            <a:ext cx="1920240" cy="164592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498079" y="2514600"/>
            <a:ext cx="1554480" cy="164592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98079" y="2926080"/>
            <a:ext cx="1143000" cy="164592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738360" y="2560320"/>
            <a:ext cx="164592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104120" y="2286000"/>
            <a:ext cx="164592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469880" y="2057400"/>
            <a:ext cx="16459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835640" y="2286000"/>
            <a:ext cx="164592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201400" y="2560320"/>
            <a:ext cx="164592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73952"/>
            <a:ext cx="1108252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66928" y="6510528"/>
            <a:ext cx="8046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AA4B2"/>
                </a:solidFill>
                <a:latin typeface="Inter"/>
              </a:rPr>
              <a:t>ПР14 • BookReader • 30.09.2026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9AA4B2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4F6F8"/>
                </a:solidFill>
                <a:latin typeface="Inter"/>
              </a:rPr>
              <a:t>1. Исходные данные из ТЗ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Inter"/>
              </a:rPr>
              <a:t>Что должен передавать логотип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2148840" cy="594360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764792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498F5"/>
                </a:solidFill>
                <a:latin typeface="Inter"/>
              </a:rPr>
              <a:t>Продукт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645920"/>
            <a:ext cx="8046720" cy="594360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91840" y="1755648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4F6F8"/>
                </a:solidFill>
                <a:latin typeface="Inter"/>
              </a:rPr>
              <a:t>Android-читалка: библиотека, FB2, чтение, TTS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87168"/>
            <a:ext cx="2148840" cy="594360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498F5"/>
                </a:solidFill>
                <a:latin typeface="Inter"/>
              </a:rPr>
              <a:t>ЦА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2487168"/>
            <a:ext cx="8046720" cy="594360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91840" y="2596896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4F6F8"/>
                </a:solidFill>
                <a:latin typeface="Inter"/>
              </a:rPr>
              <a:t>18–45; регулярное чтение; нужен спокойный инструмент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28416"/>
            <a:ext cx="2148840" cy="594360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447288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498F5"/>
                </a:solidFill>
                <a:latin typeface="Inter"/>
              </a:rPr>
              <a:t>Характер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3328416"/>
            <a:ext cx="8046720" cy="594360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91840" y="3438144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4F6F8"/>
                </a:solidFill>
                <a:latin typeface="Inter"/>
              </a:rPr>
              <a:t>спокойный, собранный, технологичный, нейтральный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169664"/>
            <a:ext cx="2148840" cy="594360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288536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498F5"/>
                </a:solidFill>
                <a:latin typeface="Inter"/>
              </a:rPr>
              <a:t>Ограничения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63240" y="4169664"/>
            <a:ext cx="8046720" cy="594360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91840" y="4279392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4F6F8"/>
                </a:solidFill>
                <a:latin typeface="Inter"/>
              </a:rPr>
              <a:t>минимализм, один акцент, масштабируемость, работа в ч/б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010912"/>
            <a:ext cx="2148840" cy="594360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5129784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498F5"/>
                </a:solidFill>
                <a:latin typeface="Inter"/>
              </a:rPr>
              <a:t>Главная задача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63240" y="5010912"/>
            <a:ext cx="8046720" cy="594360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91840" y="5120640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4F6F8"/>
                </a:solidFill>
                <a:latin typeface="Inter"/>
              </a:rPr>
              <a:t>связать смысл чтения и озвучивания без буквальных клише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6473952"/>
            <a:ext cx="1108252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510528"/>
            <a:ext cx="8046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AA4B2"/>
                </a:solidFill>
                <a:latin typeface="Inter"/>
              </a:rPr>
              <a:t>ПР14 • BookReader • 30.09.2026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492240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9AA4B2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4F6F8"/>
                </a:solidFill>
                <a:latin typeface="Inter"/>
              </a:rPr>
              <a:t>2. Анализ 5 конкурирующих логотипов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Inter"/>
              </a:rPr>
              <a:t>Визуальные признаки изучены по текущим страницам приложений и их иконкам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45920"/>
            <a:ext cx="1965960" cy="3977639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874519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4F6F8"/>
                </a:solidFill>
                <a:latin typeface="Inter"/>
              </a:rPr>
              <a:t>ReadEra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9848" y="2560320"/>
            <a:ext cx="502920" cy="82296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664208" y="2560320"/>
            <a:ext cx="50292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1572768" y="2578608"/>
            <a:ext cx="0" cy="795528"/>
          </a:xfrm>
          <a:prstGeom prst="line">
            <a:avLst/>
          </a:prstGeom>
          <a:ln w="1270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59" y="3703320"/>
            <a:ext cx="16459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4F6F8"/>
                </a:solidFill>
                <a:latin typeface="Inter"/>
              </a:rPr>
              <a:t>открытая книга + закладка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70832"/>
            <a:ext cx="16459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4B2"/>
                </a:solidFill>
                <a:latin typeface="Inter"/>
              </a:rPr>
              <a:t>Цвет: оранжевый / синий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864608"/>
            <a:ext cx="1645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4B2"/>
                </a:solidFill>
                <a:latin typeface="Inter"/>
              </a:rPr>
              <a:t>буквальная метафора чтения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1645920"/>
            <a:ext cx="1965960" cy="3977639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90672" y="1874519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4F6F8"/>
                </a:solidFill>
                <a:latin typeface="Inter"/>
              </a:rPr>
              <a:t>FBReader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560320"/>
            <a:ext cx="502920" cy="822960"/>
          </a:xfrm>
          <a:prstGeom prst="roundRect">
            <a:avLst/>
          </a:prstGeom>
          <a:solidFill>
            <a:srgbClr val="C9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931920" y="2560320"/>
            <a:ext cx="50292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840480" y="2578608"/>
            <a:ext cx="0" cy="795528"/>
          </a:xfrm>
          <a:prstGeom prst="line">
            <a:avLst/>
          </a:prstGeom>
          <a:ln w="1270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090672" y="3703320"/>
            <a:ext cx="16459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4F6F8"/>
                </a:solidFill>
                <a:latin typeface="Inter"/>
              </a:rPr>
              <a:t>книга + красная закладка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90672" y="4370832"/>
            <a:ext cx="16459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4B2"/>
                </a:solidFill>
                <a:latin typeface="Inter"/>
              </a:rPr>
              <a:t>Цвет: кремовый / красный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4864608"/>
            <a:ext cx="1645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4B2"/>
                </a:solidFill>
                <a:latin typeface="Inter"/>
              </a:rPr>
              <a:t>книга как основной символ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93792" y="1645920"/>
            <a:ext cx="1965960" cy="3977639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58383" y="1874519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4F6F8"/>
                </a:solidFill>
                <a:latin typeface="Inter"/>
              </a:rPr>
              <a:t>Moon+ Reader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05272" y="2560320"/>
            <a:ext cx="502920" cy="82296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199631" y="2560320"/>
            <a:ext cx="50292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108192" y="2578608"/>
            <a:ext cx="0" cy="795528"/>
          </a:xfrm>
          <a:prstGeom prst="line">
            <a:avLst/>
          </a:prstGeom>
          <a:ln w="1270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58383" y="3703320"/>
            <a:ext cx="16459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4F6F8"/>
                </a:solidFill>
                <a:latin typeface="Inter"/>
              </a:rPr>
              <a:t>книга + луна / звёзды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8383" y="4370832"/>
            <a:ext cx="16459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4B2"/>
                </a:solidFill>
                <a:latin typeface="Inter"/>
              </a:rPr>
              <a:t>Цвет: синий / жёлтый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8383" y="4864608"/>
            <a:ext cx="1645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4B2"/>
                </a:solidFill>
                <a:latin typeface="Inter"/>
              </a:rPr>
              <a:t>сцена ночного чтения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61504" y="1645920"/>
            <a:ext cx="1965960" cy="3977639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26096" y="1874519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4F6F8"/>
                </a:solidFill>
                <a:latin typeface="Inter"/>
              </a:rPr>
              <a:t>Kindle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10144" y="2560320"/>
            <a:ext cx="868680" cy="100584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238744" y="2971800"/>
            <a:ext cx="411480" cy="30175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 flipH="1">
            <a:off x="1005840" y="3246120"/>
            <a:ext cx="7324343" cy="182880"/>
          </a:xfrm>
          <a:prstGeom prst="line">
            <a:avLst/>
          </a:prstGeom>
          <a:ln w="5080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626096" y="3703320"/>
            <a:ext cx="16459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4F6F8"/>
                </a:solidFill>
                <a:latin typeface="Inter"/>
              </a:rPr>
              <a:t>силуэт человека с устройством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6096" y="4370832"/>
            <a:ext cx="16459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4B2"/>
                </a:solidFill>
                <a:latin typeface="Inter"/>
              </a:rPr>
              <a:t>Цвет: синий / чёрный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6096" y="4864608"/>
            <a:ext cx="1645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4B2"/>
                </a:solidFill>
                <a:latin typeface="Inter"/>
              </a:rPr>
              <a:t>читатель как герой образа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29216" y="1645920"/>
            <a:ext cx="1965960" cy="3977639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893808" y="1874519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4F6F8"/>
                </a:solidFill>
                <a:latin typeface="Inter"/>
              </a:rPr>
              <a:t>PocketBook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232136" y="2724912"/>
            <a:ext cx="310896" cy="713232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0579608" y="2651760"/>
            <a:ext cx="310896" cy="804672"/>
          </a:xfrm>
          <a:prstGeom prst="roundRect">
            <a:avLst/>
          </a:prstGeom>
          <a:solidFill>
            <a:srgbClr val="39B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0927080" y="2578608"/>
            <a:ext cx="310896" cy="896112"/>
          </a:xfrm>
          <a:prstGeom prst="roundRect">
            <a:avLst/>
          </a:prstGeom>
          <a:solidFill>
            <a:srgbClr val="F3B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893808" y="3703320"/>
            <a:ext cx="16459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4F6F8"/>
                </a:solidFill>
                <a:latin typeface="Inter"/>
              </a:rPr>
              <a:t>группа книг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93808" y="4370832"/>
            <a:ext cx="16459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4B2"/>
                </a:solidFill>
                <a:latin typeface="Inter"/>
              </a:rPr>
              <a:t>Цвет: многоцветный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3808" y="4864608"/>
            <a:ext cx="1645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4B2"/>
                </a:solidFill>
                <a:latin typeface="Inter"/>
              </a:rPr>
              <a:t>категория книг через предметный образ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90702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AA4B2"/>
                </a:solidFill>
                <a:latin typeface="Inter"/>
              </a:rPr>
              <a:t>Источник: Google Play / FBReader official Android pages, проверено 30.09.2026.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48640" y="6473952"/>
            <a:ext cx="1108252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66928" y="6510528"/>
            <a:ext cx="8046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AA4B2"/>
                </a:solidFill>
                <a:latin typeface="Inter"/>
              </a:rPr>
              <a:t>Источники: play.google.com (ReadEra, Moon+, Kindle, PocketBook); fbreader.org/ru/android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09960" y="6492240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9AA4B2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4F6F8"/>
                </a:solidFill>
                <a:latin typeface="Inter"/>
              </a:rPr>
              <a:t>3. Вывод из анализа конкурентов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Inter"/>
              </a:rPr>
              <a:t>Что использовать, чего избегать, за счёт чего отличаться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2011680" cy="822960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3498F5"/>
                </a:solidFill>
                <a:latin typeface="Inter"/>
              </a:rPr>
              <a:t>ИСПОЛЬЗОВАТЬ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737360"/>
            <a:ext cx="8046720" cy="822960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37560" y="1883664"/>
            <a:ext cx="7452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4F6F8"/>
                </a:solidFill>
                <a:latin typeface="Inter"/>
              </a:rPr>
              <a:t>простоту считывания, понятный контраст, компактный знак, устойчивость в маленьком размере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090672"/>
            <a:ext cx="2011680" cy="822960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31927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3498F5"/>
                </a:solidFill>
                <a:latin typeface="Inter"/>
              </a:rPr>
              <a:t>ИЗБЕГАТЬ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3090672"/>
            <a:ext cx="8046720" cy="822960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37560" y="3236976"/>
            <a:ext cx="7452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4F6F8"/>
                </a:solidFill>
                <a:latin typeface="Inter"/>
              </a:rPr>
              <a:t>буквальной раскрытой книги как единственного смысла; множества деталей; клише «книга + наушники»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443983"/>
            <a:ext cx="2011680" cy="82296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4672583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ОТЛИЧАТЬСЯ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4443983"/>
            <a:ext cx="8046720" cy="822960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37560" y="4590288"/>
            <a:ext cx="7452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4F6F8"/>
                </a:solidFill>
                <a:latin typeface="Inter"/>
              </a:rPr>
              <a:t>показать переход текста в звук: чтение → слушание как единая система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73952"/>
            <a:ext cx="1108252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6510528"/>
            <a:ext cx="8046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AA4B2"/>
                </a:solidFill>
                <a:latin typeface="Inter"/>
              </a:rPr>
              <a:t>ПР14 • BookReader • 30.09.2026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9AA4B2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4F6F8"/>
                </a:solidFill>
                <a:latin typeface="Inter"/>
              </a:rPr>
              <a:t>4. Карта ассоциаций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Inter"/>
              </a:rPr>
              <a:t>Три смысловые ветки, 2–3 уровня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487168"/>
            <a:ext cx="1828800" cy="658368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2670048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Inter"/>
              </a:rPr>
              <a:t>BOOKREADER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2697480" y="1920240"/>
            <a:ext cx="1051559" cy="896112"/>
          </a:xfrm>
          <a:prstGeom prst="line">
            <a:avLst/>
          </a:prstGeom>
          <a:ln w="25400">
            <a:solidFill>
              <a:srgbClr val="3498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1600200"/>
            <a:ext cx="1828800" cy="658368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86200" y="1819656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3498F5"/>
                </a:solidFill>
                <a:latin typeface="Inter"/>
              </a:rPr>
              <a:t>ЧТЕНИЕ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1600200"/>
            <a:ext cx="5212080" cy="658368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35040" y="176479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4F6F8"/>
                </a:solidFill>
                <a:latin typeface="Inter"/>
              </a:rPr>
              <a:t>текст → строка → ритм → поток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97480" y="2816352"/>
            <a:ext cx="1051559" cy="246888"/>
          </a:xfrm>
          <a:prstGeom prst="line">
            <a:avLst/>
          </a:prstGeom>
          <a:ln w="25400">
            <a:solidFill>
              <a:srgbClr val="3498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49039" y="2743200"/>
            <a:ext cx="1828800" cy="658368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86200" y="2962656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3498F5"/>
                </a:solidFill>
                <a:latin typeface="Inter"/>
              </a:rPr>
              <a:t>ГОЛОС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06440" y="2743200"/>
            <a:ext cx="5212080" cy="658368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35040" y="290779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4F6F8"/>
                </a:solidFill>
                <a:latin typeface="Inter"/>
              </a:rPr>
              <a:t>звук → волна → импульс → последовательность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697480" y="2816352"/>
            <a:ext cx="1051559" cy="1389888"/>
          </a:xfrm>
          <a:prstGeom prst="line">
            <a:avLst/>
          </a:prstGeom>
          <a:ln w="25400">
            <a:solidFill>
              <a:srgbClr val="3498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749039" y="3886200"/>
            <a:ext cx="1828800" cy="658368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86200" y="4105656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3498F5"/>
                </a:solidFill>
                <a:latin typeface="Inter"/>
              </a:rPr>
              <a:t>ПОРЯДОК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06440" y="3886200"/>
            <a:ext cx="5212080" cy="658368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35040" y="4050791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4F6F8"/>
                </a:solidFill>
                <a:latin typeface="Inter"/>
              </a:rPr>
              <a:t>библиотека → структура → сетка → модуль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212080"/>
            <a:ext cx="9875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Inter"/>
              </a:rPr>
              <a:t>Приоритетные смыслы: текст → звук, типографический знак, поток.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73952"/>
            <a:ext cx="1108252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6510528"/>
            <a:ext cx="8046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AA4B2"/>
                </a:solidFill>
                <a:latin typeface="Inter"/>
              </a:rPr>
              <a:t>ПР14 • BookReader • 30.09.2026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92240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9AA4B2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4F6F8"/>
                </a:solidFill>
                <a:latin typeface="Inter"/>
              </a:rPr>
              <a:t>5. Выбранное направление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Inter"/>
              </a:rPr>
              <a:t>«Текст → звук»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303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4F6F8"/>
                </a:solidFill>
                <a:latin typeface="Inter"/>
              </a:rPr>
              <a:t>Несколько строк текста постепенно преобразуются в звуковую волну.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498F5"/>
                </a:solidFill>
                <a:latin typeface="Inter"/>
              </a:rPr>
              <a:t>Связь с продуктом: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4F6F8"/>
                </a:solidFill>
                <a:latin typeface="Inter"/>
              </a:rPr>
              <a:t>1. читать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4F6F8"/>
                </a:solidFill>
                <a:latin typeface="Inter"/>
              </a:rPr>
              <a:t>2. слушать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77639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4F6F8"/>
                </a:solidFill>
                <a:latin typeface="Inter"/>
              </a:rPr>
              <a:t>3. переключать режим без смены приложения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331720"/>
            <a:ext cx="2011680" cy="164592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0" y="2880360"/>
            <a:ext cx="1691640" cy="164592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0" y="3429000"/>
            <a:ext cx="1280160" cy="164592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961120" y="2788920"/>
            <a:ext cx="18288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400032" y="2542032"/>
            <a:ext cx="1828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838944" y="2286000"/>
            <a:ext cx="182880" cy="1600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277856" y="2542032"/>
            <a:ext cx="1828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716768" y="2788920"/>
            <a:ext cx="18288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4709160"/>
            <a:ext cx="4754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AA4B2"/>
                </a:solidFill>
                <a:latin typeface="Inter"/>
              </a:rPr>
              <a:t>Без буквальной книги • без наушников • без микрофона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73952"/>
            <a:ext cx="1108252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6510528"/>
            <a:ext cx="8046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AA4B2"/>
                </a:solidFill>
                <a:latin typeface="Inter"/>
              </a:rPr>
              <a:t>ПР14 • BookReader • 30.09.2026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492240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9AA4B2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4F6F8"/>
                </a:solidFill>
                <a:latin typeface="Inter"/>
              </a:rPr>
              <a:t>6. Мудборд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Inter"/>
              </a:rPr>
              <a:t>Направление атмосферы и материалов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2743200" cy="1828800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703320" y="1600200"/>
            <a:ext cx="2743200" cy="1828800"/>
          </a:xfrm>
          <a:prstGeom prst="roundRect">
            <a:avLst/>
          </a:prstGeom>
          <a:solidFill>
            <a:srgbClr val="101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675120" y="1600200"/>
            <a:ext cx="2011680" cy="1828800"/>
          </a:xfrm>
          <a:prstGeom prst="round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961120" y="1600200"/>
            <a:ext cx="2331720" cy="182880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2743200" cy="1828800"/>
          </a:xfrm>
          <a:prstGeom prst="roundRect">
            <a:avLst/>
          </a:prstGeom>
          <a:solidFill>
            <a:srgbClr val="12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703320" y="3657600"/>
            <a:ext cx="2743200" cy="1828800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675120" y="3657600"/>
            <a:ext cx="2011680" cy="1828800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961120" y="3657600"/>
            <a:ext cx="2331720" cy="1828800"/>
          </a:xfrm>
          <a:prstGeom prst="roundRect">
            <a:avLst/>
          </a:prstGeom>
          <a:solidFill>
            <a:srgbClr val="0B0E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201168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F4F6F8"/>
                </a:solidFill>
                <a:latin typeface="Inter"/>
              </a:rPr>
              <a:t>Aa  BOOKREADER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9" y="2770631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dirty="0">
                <a:solidFill>
                  <a:srgbClr val="9AA4B2"/>
                </a:solidFill>
                <a:latin typeface="Inter"/>
              </a:rPr>
              <a:t>Inter / neutral / high readability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87368" y="1627632"/>
            <a:ext cx="0" cy="1773936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471416" y="1627632"/>
            <a:ext cx="0" cy="1773936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1627632"/>
            <a:ext cx="0" cy="1773936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239512" y="1627632"/>
            <a:ext cx="0" cy="1773936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623560" y="1627632"/>
            <a:ext cx="0" cy="1773936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07608" y="1627632"/>
            <a:ext cx="0" cy="1773936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730752" y="1984248"/>
            <a:ext cx="267004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730752" y="2368296"/>
            <a:ext cx="267004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30752" y="2752344"/>
            <a:ext cx="267004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30752" y="3136391"/>
            <a:ext cx="267004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040880" y="2217420"/>
            <a:ext cx="109728" cy="41148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296912" y="2057400"/>
            <a:ext cx="109728" cy="73152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552944" y="1897380"/>
            <a:ext cx="109728" cy="105156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808976" y="2057400"/>
            <a:ext cx="109728" cy="73152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065008" y="2217420"/>
            <a:ext cx="109728" cy="41148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326880" y="1965960"/>
            <a:ext cx="1600200" cy="109728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418320" y="2340864"/>
            <a:ext cx="1417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F1115"/>
                </a:solidFill>
                <a:latin typeface="Inter"/>
              </a:rPr>
              <a:t>#3498F5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16052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9AA4B2"/>
                </a:solidFill>
                <a:latin typeface="Inter"/>
              </a:rPr>
              <a:t>СПОКОЙСТВИЕ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617720"/>
            <a:ext cx="2240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4F6F8"/>
                </a:solidFill>
                <a:latin typeface="Inter"/>
              </a:rPr>
              <a:t>тёмный фон / много воздуха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69080" y="4023360"/>
            <a:ext cx="2011680" cy="1097280"/>
          </a:xfrm>
          <a:prstGeom prst="roundRect">
            <a:avLst/>
          </a:prstGeom>
          <a:solidFill>
            <a:srgbClr val="0F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343400" y="4251960"/>
            <a:ext cx="1097280" cy="109728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4343400" y="4498848"/>
            <a:ext cx="822960" cy="10972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343400" y="4745736"/>
            <a:ext cx="594360" cy="109728"/>
          </a:xfrm>
          <a:prstGeom prst="roundRect">
            <a:avLst/>
          </a:prstGeom>
          <a:solidFill>
            <a:srgbClr val="9AA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6995160" y="4187952"/>
            <a:ext cx="0" cy="768096"/>
          </a:xfrm>
          <a:prstGeom prst="line">
            <a:avLst/>
          </a:prstGeom>
          <a:ln w="25400">
            <a:solidFill>
              <a:srgbClr val="3498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196328" y="4187952"/>
            <a:ext cx="0" cy="768096"/>
          </a:xfrm>
          <a:prstGeom prst="line">
            <a:avLst/>
          </a:prstGeom>
          <a:ln w="25400">
            <a:solidFill>
              <a:srgbClr val="3498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397496" y="4187952"/>
            <a:ext cx="0" cy="768096"/>
          </a:xfrm>
          <a:prstGeom prst="line">
            <a:avLst/>
          </a:prstGeom>
          <a:ln w="25400">
            <a:solidFill>
              <a:srgbClr val="3498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372600" y="416052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4F6F8"/>
                </a:solidFill>
                <a:latin typeface="Inter"/>
              </a:rPr>
              <a:t>РИТМ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12580" y="46177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dirty="0" err="1">
                <a:solidFill>
                  <a:srgbClr val="9AA4B2"/>
                </a:solidFill>
                <a:latin typeface="Inter"/>
              </a:rPr>
              <a:t>модульность</a:t>
            </a:r>
            <a:r>
              <a:rPr sz="1100" b="0" dirty="0">
                <a:solidFill>
                  <a:srgbClr val="9AA4B2"/>
                </a:solidFill>
                <a:latin typeface="Inter"/>
              </a:rPr>
              <a:t> / </a:t>
            </a:r>
            <a:r>
              <a:rPr sz="1100" b="0" dirty="0" err="1">
                <a:solidFill>
                  <a:srgbClr val="9AA4B2"/>
                </a:solidFill>
                <a:latin typeface="Inter"/>
              </a:rPr>
              <a:t>повтор</a:t>
            </a:r>
            <a:endParaRPr sz="1100" b="0" dirty="0">
              <a:solidFill>
                <a:srgbClr val="9AA4B2"/>
              </a:solidFill>
              <a:latin typeface="Inter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473952"/>
            <a:ext cx="1108252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66928" y="6510528"/>
            <a:ext cx="8046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AA4B2"/>
                </a:solidFill>
                <a:latin typeface="Inter"/>
              </a:rPr>
              <a:t>ПР14 • BookReader • 30.09.2026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9960" y="6492240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9AA4B2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4F6F8"/>
                </a:solidFill>
                <a:latin typeface="Inter"/>
              </a:rPr>
              <a:t>7. 8 референсов и что изучается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Inter"/>
              </a:rPr>
              <a:t>Референсы не копируются: анализируются принципы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2487168" cy="1481328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1" y="1737360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498F5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7" y="1737360"/>
            <a:ext cx="1691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4F6F8"/>
                </a:solidFill>
                <a:latin typeface="Inter"/>
              </a:rPr>
              <a:t>Swiss grid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185416"/>
            <a:ext cx="2057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иерархия и ритм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00200"/>
            <a:ext cx="2487168" cy="1481328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21024" y="1737360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498F5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1737360"/>
            <a:ext cx="1691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4F6F8"/>
                </a:solidFill>
                <a:latin typeface="Inter"/>
              </a:rPr>
              <a:t>Inter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185416"/>
            <a:ext cx="2057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нейтральная типографика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1600200"/>
            <a:ext cx="2487168" cy="1481328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37376" y="1737360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498F5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1737360"/>
            <a:ext cx="1691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4F6F8"/>
                </a:solidFill>
                <a:latin typeface="Inter"/>
              </a:rPr>
              <a:t>Line icons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2185416"/>
            <a:ext cx="2057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единая толщина штриха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89136" y="1600200"/>
            <a:ext cx="2487168" cy="1481328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53728" y="1737360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498F5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6063" y="1737360"/>
            <a:ext cx="1691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4F6F8"/>
                </a:solidFill>
                <a:latin typeface="Inter"/>
              </a:rPr>
              <a:t>Waveform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2185416"/>
            <a:ext cx="2057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визуализация звука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74720"/>
            <a:ext cx="2487168" cy="1481328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" y="3611879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498F5"/>
                </a:solidFill>
                <a:latin typeface="Inter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7" y="3611879"/>
            <a:ext cx="1691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4F6F8"/>
                </a:solidFill>
                <a:latin typeface="Inter"/>
              </a:rPr>
              <a:t>App icon grid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" y="4059935"/>
            <a:ext cx="2057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масштабирование знака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56432" y="3474720"/>
            <a:ext cx="2487168" cy="1481328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21024" y="3611879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498F5"/>
                </a:solidFill>
                <a:latin typeface="Inter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3611879"/>
            <a:ext cx="1691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4F6F8"/>
                </a:solidFill>
                <a:latin typeface="Inter"/>
              </a:rPr>
              <a:t>8 dp grid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1024" y="4059935"/>
            <a:ext cx="2057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система отступов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72784" y="3474720"/>
            <a:ext cx="2487168" cy="1481328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37376" y="3611879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498F5"/>
                </a:solidFill>
                <a:latin typeface="Inter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3611879"/>
            <a:ext cx="1691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4F6F8"/>
                </a:solidFill>
                <a:latin typeface="Inter"/>
              </a:rPr>
              <a:t>Dark UI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7376" y="4059935"/>
            <a:ext cx="2057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контраст и концентрация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89136" y="3474720"/>
            <a:ext cx="2487168" cy="1481328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53728" y="3611879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498F5"/>
                </a:solidFill>
                <a:latin typeface="Inter"/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56063" y="3611879"/>
            <a:ext cx="1691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4F6F8"/>
                </a:solidFill>
                <a:latin typeface="Inter"/>
              </a:rPr>
              <a:t>Signal / rhythm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3728" y="4059935"/>
            <a:ext cx="2057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повтор и модульность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73952"/>
            <a:ext cx="1108252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6510528"/>
            <a:ext cx="8046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AA4B2"/>
                </a:solidFill>
                <a:latin typeface="Inter"/>
              </a:rPr>
              <a:t>ПР14 • BookReader • 30.09.2026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09960" y="6492240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9AA4B2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4F6F8"/>
                </a:solidFill>
                <a:latin typeface="Inter"/>
              </a:rPr>
              <a:t>8. Цвет и типографика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Inter"/>
              </a:rPr>
              <a:t>Палитра наследуется из ТЗ и применяется в логотипе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938528" cy="1143000"/>
          </a:xfrm>
          <a:prstGeom prst="roundRect">
            <a:avLst/>
          </a:prstGeom>
          <a:solidFill>
            <a:srgbClr val="0F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035808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4F6F8"/>
                </a:solidFill>
                <a:latin typeface="Inter"/>
              </a:rPr>
              <a:t>Основной фон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64992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#0F1115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737360"/>
            <a:ext cx="1938528" cy="1143000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63240" y="3035808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4F6F8"/>
                </a:solidFill>
                <a:latin typeface="Inter"/>
              </a:rPr>
              <a:t>Поверхность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3364992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#171A21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1737360"/>
            <a:ext cx="1938528" cy="11430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0" y="3035808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4F6F8"/>
                </a:solidFill>
                <a:latin typeface="Inter"/>
              </a:rPr>
              <a:t>Текст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364992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#F4F6F8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1737360"/>
            <a:ext cx="1938528" cy="1143000"/>
          </a:xfrm>
          <a:prstGeom prst="roundRect">
            <a:avLst/>
          </a:prstGeom>
          <a:solidFill>
            <a:srgbClr val="9AA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43800" y="3035808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4F6F8"/>
                </a:solidFill>
                <a:latin typeface="Inter"/>
              </a:rPr>
              <a:t>Вторичный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3364992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#9AA4B2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1737360"/>
            <a:ext cx="1938528" cy="114300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84080" y="3035808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4F6F8"/>
                </a:solidFill>
                <a:latin typeface="Inter"/>
              </a:rPr>
              <a:t>Акцент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3364992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#3498F5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16052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F4F6F8"/>
                </a:solidFill>
                <a:latin typeface="Inter"/>
              </a:rPr>
              <a:t>Inter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5488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Заголовок / навигация / метаданные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4160520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4F6F8"/>
                </a:solidFill>
                <a:latin typeface="Inter"/>
              </a:rPr>
              <a:t>Ахроматика обязательна: чёрная и белая версии сохраняют форму знака без зависимости от цвета.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07492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AA4B2"/>
                </a:solidFill>
                <a:latin typeface="Inter"/>
              </a:rPr>
              <a:t>Цветной логотип: акцент #3498F5 + нейтральный словесный знак.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73952"/>
            <a:ext cx="1108252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6510528"/>
            <a:ext cx="8046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AA4B2"/>
                </a:solidFill>
                <a:latin typeface="Inter"/>
              </a:rPr>
              <a:t>ПР14 • BookReader • 30.09.2026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92240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9AA4B2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4F6F8"/>
                </a:solidFill>
                <a:latin typeface="Inter"/>
              </a:rPr>
              <a:t>9. 6 эскизных направлений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Inter"/>
              </a:rPr>
              <a:t>Это цифровые схемы идей; по ТЗ ручные эскизы должны быть дорисованы от руки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08760"/>
            <a:ext cx="3364992" cy="1874519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7" y="2926080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498F5"/>
                </a:solidFill>
                <a:latin typeface="Inter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898648"/>
            <a:ext cx="256032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 err="1">
                <a:solidFill>
                  <a:srgbClr val="F4F6F8"/>
                </a:solidFill>
                <a:latin typeface="Inter"/>
              </a:rPr>
              <a:t>волна</a:t>
            </a:r>
            <a:endParaRPr sz="1100" b="1" dirty="0">
              <a:solidFill>
                <a:srgbClr val="F4F6F8"/>
              </a:solidFill>
              <a:latin typeface="Inter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61688" y="1508760"/>
            <a:ext cx="3364992" cy="1874519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44568" y="2926080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498F5"/>
                </a:solidFill>
                <a:latin typeface="Inter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607" y="2898648"/>
            <a:ext cx="25603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F6F8"/>
                </a:solidFill>
                <a:latin typeface="Inter"/>
              </a:rPr>
              <a:t>Три строки образуют волну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5008" y="1508760"/>
            <a:ext cx="3364992" cy="1874519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47888" y="2926080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498F5"/>
                </a:solidFill>
                <a:latin typeface="Inter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7928" y="2898648"/>
            <a:ext cx="256032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ru-RU" sz="1100" b="1" dirty="0" err="1">
                <a:solidFill>
                  <a:srgbClr val="F4F6F8"/>
                </a:solidFill>
                <a:latin typeface="Inter"/>
              </a:rPr>
              <a:t>изтекстаВзвук</a:t>
            </a:r>
            <a:endParaRPr lang="ru-RU" sz="1100" b="1" dirty="0">
              <a:solidFill>
                <a:srgbClr val="F4F6F8"/>
              </a:solidFill>
              <a:latin typeface="Inter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58368" y="3813048"/>
            <a:ext cx="3364992" cy="1874519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161287" y="4224528"/>
            <a:ext cx="640080" cy="91440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2121408" y="4521708"/>
            <a:ext cx="73152" cy="228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2322576" y="4384548"/>
            <a:ext cx="73152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2523744" y="4247388"/>
            <a:ext cx="731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2724912" y="4384548"/>
            <a:ext cx="73152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2926079" y="4521708"/>
            <a:ext cx="73152" cy="228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41247" y="5230368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498F5"/>
                </a:solidFill>
                <a:latin typeface="Inter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61288" y="5202936"/>
            <a:ext cx="25603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F6F8"/>
                </a:solidFill>
                <a:latin typeface="Inter"/>
              </a:rPr>
              <a:t>Абстрактная закладка + волна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61688" y="3813048"/>
            <a:ext cx="3364992" cy="1874519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544568" y="5230368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498F5"/>
                </a:solidFill>
                <a:latin typeface="Inter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64607" y="5202936"/>
            <a:ext cx="25603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F6F8"/>
                </a:solidFill>
                <a:latin typeface="Inter"/>
              </a:rPr>
              <a:t>Два состояния: текст / звук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65008" y="3813048"/>
            <a:ext cx="3364992" cy="1874519"/>
          </a:xfrm>
          <a:prstGeom prst="round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247888" y="5230368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498F5"/>
                </a:solidFill>
                <a:latin typeface="Inter"/>
              </a:rPr>
              <a:t>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7928" y="5202936"/>
            <a:ext cx="25603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F6F8"/>
                </a:solidFill>
                <a:latin typeface="Inter"/>
              </a:rPr>
              <a:t>Модульные блоки + линия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598932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3498F5"/>
                </a:solidFill>
                <a:latin typeface="Inter"/>
              </a:rPr>
              <a:t>Твоя обязательная часть: перенести 6 идей на бумагу/вручную и сфотографировать для контрольной точки 2.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48640" y="6473952"/>
            <a:ext cx="1108252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66928" y="6510528"/>
            <a:ext cx="8046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AA4B2"/>
                </a:solidFill>
                <a:latin typeface="Inter"/>
              </a:rPr>
              <a:t>ПР14 • BookReader • 30.09.2026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9960" y="6492240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9AA4B2"/>
                </a:solidFill>
                <a:latin typeface="Inter"/>
              </a:rPr>
              <a:t>10</a:t>
            </a:r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ACE772F6-6EEA-2985-A284-43FE660205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048" t="38133" r="15789" b="21667"/>
          <a:stretch>
            <a:fillRect/>
          </a:stretch>
        </p:blipFill>
        <p:spPr>
          <a:xfrm>
            <a:off x="5147197" y="4007702"/>
            <a:ext cx="1634360" cy="1198927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2BFC9B5D-32C2-B0E5-2F32-027BFE74C1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706" t="27985" r="15407" b="26881"/>
          <a:stretch>
            <a:fillRect/>
          </a:stretch>
        </p:blipFill>
        <p:spPr>
          <a:xfrm>
            <a:off x="9085517" y="1682787"/>
            <a:ext cx="1376225" cy="1169849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F9344C83-D316-02C8-1D4B-031BA5F653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6667" b="24667"/>
          <a:stretch>
            <a:fillRect/>
          </a:stretch>
        </p:blipFill>
        <p:spPr>
          <a:xfrm>
            <a:off x="8752189" y="3946643"/>
            <a:ext cx="1990629" cy="1293389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0BF55F04-0DED-1243-DFAB-794220778F2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494" t="34801" r="14564" b="31465"/>
          <a:stretch>
            <a:fillRect/>
          </a:stretch>
        </p:blipFill>
        <p:spPr>
          <a:xfrm>
            <a:off x="4904308" y="1648223"/>
            <a:ext cx="2170023" cy="1304076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8894828D-0D4C-C683-E7CA-75FECE703D5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76" t="34639" r="-476" b="24933"/>
          <a:stretch>
            <a:fillRect/>
          </a:stretch>
        </p:blipFill>
        <p:spPr>
          <a:xfrm>
            <a:off x="1091310" y="3971050"/>
            <a:ext cx="2184842" cy="1179259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04E13AF4-603F-823E-955E-F7BE396763A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236" t="26652" r="2800" b="21535"/>
          <a:stretch>
            <a:fillRect/>
          </a:stretch>
        </p:blipFill>
        <p:spPr>
          <a:xfrm>
            <a:off x="1730258" y="1711945"/>
            <a:ext cx="1610426" cy="139338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4F6F8"/>
                </a:solidFill>
                <a:latin typeface="Inter"/>
              </a:rPr>
              <a:t>10. Три отобранные концепции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Inter"/>
              </a:rPr>
              <a:t>После эскизов остаются три направления для выбора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45920"/>
            <a:ext cx="3200400" cy="3931920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90195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498F5"/>
                </a:solidFill>
                <a:latin typeface="Inter"/>
              </a:rPr>
              <a:t>A. TEXT→SOUND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5880" y="2624328"/>
            <a:ext cx="109728" cy="2377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636776" y="2505456"/>
            <a:ext cx="109728" cy="4754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947672" y="2354580"/>
            <a:ext cx="109728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258568" y="2505456"/>
            <a:ext cx="109728" cy="4754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69464" y="2624328"/>
            <a:ext cx="109728" cy="2377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3767328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F6F8"/>
                </a:solidFill>
                <a:latin typeface="Inter"/>
              </a:rPr>
              <a:t>самый прямой смысл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70832"/>
            <a:ext cx="2651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читается с первого взгляда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1645920"/>
            <a:ext cx="3200400" cy="3931920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09159" y="190195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498F5"/>
                </a:solidFill>
                <a:latin typeface="Inter"/>
              </a:rPr>
              <a:t>B. TYPO FLOW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199" y="2624328"/>
            <a:ext cx="109728" cy="2377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340095" y="2505456"/>
            <a:ext cx="109728" cy="4754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650991" y="2354580"/>
            <a:ext cx="109728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961888" y="2505456"/>
            <a:ext cx="109728" cy="4754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72783" y="2624328"/>
            <a:ext cx="109728" cy="2377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09159" y="3767328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F6F8"/>
                </a:solidFill>
                <a:latin typeface="Inter"/>
              </a:rPr>
              <a:t>знак строится как ритм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59" y="4370832"/>
            <a:ext cx="2651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более абстрактно и брендово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1645920"/>
            <a:ext cx="3200400" cy="3931920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0" y="190195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498F5"/>
                </a:solidFill>
                <a:latin typeface="Inter"/>
              </a:rPr>
              <a:t>C. SIGNAL TAB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19" y="2624328"/>
            <a:ext cx="109728" cy="2377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9043415" y="2505456"/>
            <a:ext cx="109728" cy="4754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354311" y="2354580"/>
            <a:ext cx="109728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665207" y="2505456"/>
            <a:ext cx="109728" cy="4754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976103" y="2624328"/>
            <a:ext cx="109728" cy="2377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80" y="3767328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F6F8"/>
                </a:solidFill>
                <a:latin typeface="Inter"/>
              </a:rPr>
              <a:t>закладка + волна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370832"/>
            <a:ext cx="2651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Inter"/>
              </a:rPr>
              <a:t>баланс книги и звука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6473952"/>
            <a:ext cx="1108252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6928" y="6510528"/>
            <a:ext cx="8046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AA4B2"/>
                </a:solidFill>
                <a:latin typeface="Inter"/>
              </a:rPr>
              <a:t>ПР14 • BookReader • 30.09.2026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492240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9AA4B2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4F6F8"/>
                </a:solidFill>
                <a:latin typeface="Inter"/>
              </a:rPr>
              <a:t>11. Выбранная концепция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Inter"/>
              </a:rPr>
              <a:t>TEXT→SOUND: три текстовые строки переходят в волну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148840"/>
            <a:ext cx="2011680" cy="146304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05840" y="2578608"/>
            <a:ext cx="1691640" cy="146304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05840" y="3008376"/>
            <a:ext cx="1325880" cy="146304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429000" y="2423160"/>
            <a:ext cx="128016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749039" y="2212848"/>
            <a:ext cx="128016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069080" y="1993392"/>
            <a:ext cx="128016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89120" y="2212848"/>
            <a:ext cx="128016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709160" y="2423160"/>
            <a:ext cx="128016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0" y="2331720"/>
            <a:ext cx="4937760" cy="5693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F4F6F8"/>
                </a:solidFill>
                <a:latin typeface="Inter"/>
              </a:rPr>
              <a:t>BookReader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154680"/>
            <a:ext cx="228600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498F5"/>
                </a:solidFill>
                <a:latin typeface="Inter"/>
              </a:rPr>
              <a:t>Почему работает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529584"/>
            <a:ext cx="5120640" cy="1015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>
                <a:solidFill>
                  <a:srgbClr val="F4F6F8"/>
                </a:solidFill>
                <a:latin typeface="Inter"/>
              </a:rPr>
              <a:t>• </a:t>
            </a:r>
            <a:r>
              <a:rPr sz="1500" b="0" dirty="0" err="1">
                <a:solidFill>
                  <a:srgbClr val="F4F6F8"/>
                </a:solidFill>
                <a:latin typeface="Inter"/>
              </a:rPr>
              <a:t>объединяет</a:t>
            </a:r>
            <a:r>
              <a:rPr sz="1500" b="0" dirty="0">
                <a:solidFill>
                  <a:srgbClr val="F4F6F8"/>
                </a:solidFill>
                <a:latin typeface="Inter"/>
              </a:rPr>
              <a:t> </a:t>
            </a:r>
            <a:r>
              <a:rPr sz="1500" b="0" dirty="0" err="1">
                <a:solidFill>
                  <a:srgbClr val="F4F6F8"/>
                </a:solidFill>
                <a:latin typeface="Inter"/>
              </a:rPr>
              <a:t>чтение</a:t>
            </a:r>
            <a:r>
              <a:rPr sz="1500" b="0" dirty="0">
                <a:solidFill>
                  <a:srgbClr val="F4F6F8"/>
                </a:solidFill>
                <a:latin typeface="Inter"/>
              </a:rPr>
              <a:t> и </a:t>
            </a:r>
            <a:r>
              <a:rPr sz="1500" b="0" dirty="0" err="1">
                <a:solidFill>
                  <a:srgbClr val="F4F6F8"/>
                </a:solidFill>
                <a:latin typeface="Inter"/>
              </a:rPr>
              <a:t>слушание</a:t>
            </a:r>
            <a:r>
              <a:rPr sz="1500" b="0" dirty="0">
                <a:solidFill>
                  <a:srgbClr val="F4F6F8"/>
                </a:solidFill>
                <a:latin typeface="Inter"/>
              </a:rPr>
              <a:t>
• </a:t>
            </a:r>
            <a:r>
              <a:rPr sz="1500" b="0" dirty="0" err="1">
                <a:solidFill>
                  <a:srgbClr val="F4F6F8"/>
                </a:solidFill>
                <a:latin typeface="Inter"/>
              </a:rPr>
              <a:t>не</a:t>
            </a:r>
            <a:r>
              <a:rPr sz="1500" b="0" dirty="0">
                <a:solidFill>
                  <a:srgbClr val="F4F6F8"/>
                </a:solidFill>
                <a:latin typeface="Inter"/>
              </a:rPr>
              <a:t> </a:t>
            </a:r>
            <a:r>
              <a:rPr sz="1500" b="0" dirty="0" err="1">
                <a:solidFill>
                  <a:srgbClr val="F4F6F8"/>
                </a:solidFill>
                <a:latin typeface="Inter"/>
              </a:rPr>
              <a:t>использует</a:t>
            </a:r>
            <a:r>
              <a:rPr sz="1500" b="0" dirty="0">
                <a:solidFill>
                  <a:srgbClr val="F4F6F8"/>
                </a:solidFill>
                <a:latin typeface="Inter"/>
              </a:rPr>
              <a:t> </a:t>
            </a:r>
            <a:r>
              <a:rPr sz="1500" b="0" dirty="0" err="1">
                <a:solidFill>
                  <a:srgbClr val="F4F6F8"/>
                </a:solidFill>
                <a:latin typeface="Inter"/>
              </a:rPr>
              <a:t>буквальную</a:t>
            </a:r>
            <a:r>
              <a:rPr sz="1500" b="0" dirty="0">
                <a:solidFill>
                  <a:srgbClr val="F4F6F8"/>
                </a:solidFill>
                <a:latin typeface="Inter"/>
              </a:rPr>
              <a:t> </a:t>
            </a:r>
            <a:r>
              <a:rPr sz="1500" b="0" dirty="0" err="1">
                <a:solidFill>
                  <a:srgbClr val="F4F6F8"/>
                </a:solidFill>
                <a:latin typeface="Inter"/>
              </a:rPr>
              <a:t>книгу</a:t>
            </a:r>
            <a:r>
              <a:rPr sz="1500" b="0" dirty="0">
                <a:solidFill>
                  <a:srgbClr val="F4F6F8"/>
                </a:solidFill>
                <a:latin typeface="Inter"/>
              </a:rPr>
              <a:t>
• </a:t>
            </a:r>
            <a:r>
              <a:rPr sz="1500" b="0" dirty="0" err="1">
                <a:solidFill>
                  <a:srgbClr val="F4F6F8"/>
                </a:solidFill>
                <a:latin typeface="Inter"/>
              </a:rPr>
              <a:t>сохраняет</a:t>
            </a:r>
            <a:r>
              <a:rPr sz="1500" b="0" dirty="0">
                <a:solidFill>
                  <a:srgbClr val="F4F6F8"/>
                </a:solidFill>
                <a:latin typeface="Inter"/>
              </a:rPr>
              <a:t> </a:t>
            </a:r>
            <a:r>
              <a:rPr sz="1500" b="0" dirty="0" err="1">
                <a:solidFill>
                  <a:srgbClr val="F4F6F8"/>
                </a:solidFill>
                <a:latin typeface="Inter"/>
              </a:rPr>
              <a:t>простую</a:t>
            </a:r>
            <a:r>
              <a:rPr sz="1500" b="0" dirty="0">
                <a:solidFill>
                  <a:srgbClr val="F4F6F8"/>
                </a:solidFill>
                <a:latin typeface="Inter"/>
              </a:rPr>
              <a:t> </a:t>
            </a:r>
            <a:r>
              <a:rPr sz="1500" b="0" dirty="0" err="1">
                <a:solidFill>
                  <a:srgbClr val="F4F6F8"/>
                </a:solidFill>
                <a:latin typeface="Inter"/>
              </a:rPr>
              <a:t>геометрию</a:t>
            </a:r>
            <a:r>
              <a:rPr sz="1500" b="0" dirty="0">
                <a:solidFill>
                  <a:srgbClr val="F4F6F8"/>
                </a:solidFill>
                <a:latin typeface="Inter"/>
              </a:rPr>
              <a:t>
• </a:t>
            </a:r>
            <a:r>
              <a:rPr sz="1500" b="0" dirty="0" err="1">
                <a:solidFill>
                  <a:srgbClr val="F4F6F8"/>
                </a:solidFill>
                <a:latin typeface="Inter"/>
              </a:rPr>
              <a:t>масштабируется</a:t>
            </a:r>
            <a:r>
              <a:rPr sz="1500" b="0" dirty="0">
                <a:solidFill>
                  <a:srgbClr val="F4F6F8"/>
                </a:solidFill>
                <a:latin typeface="Inter"/>
              </a:rPr>
              <a:t> </a:t>
            </a:r>
            <a:r>
              <a:rPr sz="1500" b="0" dirty="0" err="1">
                <a:solidFill>
                  <a:srgbClr val="F4F6F8"/>
                </a:solidFill>
                <a:latin typeface="Inter"/>
              </a:rPr>
              <a:t>до</a:t>
            </a:r>
            <a:r>
              <a:rPr sz="1500" b="0" dirty="0">
                <a:solidFill>
                  <a:srgbClr val="F4F6F8"/>
                </a:solidFill>
                <a:latin typeface="Inter"/>
              </a:rPr>
              <a:t> </a:t>
            </a:r>
            <a:r>
              <a:rPr sz="1500" b="0" dirty="0" err="1">
                <a:solidFill>
                  <a:srgbClr val="F4F6F8"/>
                </a:solidFill>
                <a:latin typeface="Inter"/>
              </a:rPr>
              <a:t>иконки</a:t>
            </a:r>
            <a:endParaRPr sz="1500" b="0" dirty="0">
              <a:solidFill>
                <a:srgbClr val="F4F6F8"/>
              </a:solidFill>
              <a:latin typeface="Inte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73952"/>
            <a:ext cx="1108252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66928" y="6510528"/>
            <a:ext cx="8046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AA4B2"/>
                </a:solidFill>
                <a:latin typeface="Inter"/>
              </a:rPr>
              <a:t>ПР14 • BookReader • 30.09.2026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9AA4B2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4F6F8"/>
                </a:solidFill>
                <a:latin typeface="Inter"/>
              </a:rPr>
              <a:t>12. Финальный логотип и проверки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Inter"/>
              </a:rPr>
              <a:t>Цветной, ч/б, светлый фон, тёмный фон, уменьшенная версия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51663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05840" y="2057400"/>
            <a:ext cx="1143000" cy="100584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05840" y="2377440"/>
            <a:ext cx="960120" cy="100584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697480"/>
            <a:ext cx="731520" cy="100584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331720" y="2249424"/>
            <a:ext cx="82296" cy="36576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496312" y="2112264"/>
            <a:ext cx="82296" cy="68580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660903" y="1984248"/>
            <a:ext cx="82296" cy="96012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825496" y="2112264"/>
            <a:ext cx="82296" cy="68580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990087" y="2249424"/>
            <a:ext cx="82296" cy="36576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46120" y="212140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115"/>
                </a:solidFill>
                <a:latin typeface="Inter"/>
              </a:rPr>
              <a:t>BookReader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657600"/>
            <a:ext cx="5166360" cy="1828800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5840" y="4160520"/>
            <a:ext cx="1143000" cy="1005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05840" y="4480560"/>
            <a:ext cx="960120" cy="1005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05840" y="4800600"/>
            <a:ext cx="731520" cy="1005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331720" y="4352544"/>
            <a:ext cx="82296" cy="365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2496312" y="4215384"/>
            <a:ext cx="82296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660903" y="4087368"/>
            <a:ext cx="82296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825496" y="4215384"/>
            <a:ext cx="82296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990087" y="4352544"/>
            <a:ext cx="82296" cy="365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46120" y="42245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Inter"/>
              </a:rPr>
              <a:t>BookReader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1572768"/>
            <a:ext cx="4572000" cy="1097280"/>
          </a:xfrm>
          <a:prstGeom prst="round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720840" y="1883664"/>
            <a:ext cx="914400" cy="82296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720840" y="2130552"/>
            <a:ext cx="713232" cy="82296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720840" y="2377440"/>
            <a:ext cx="502920" cy="82296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863840" y="2011680"/>
            <a:ext cx="64008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028431" y="1874519"/>
            <a:ext cx="64008" cy="5029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193023" y="1737360"/>
            <a:ext cx="64008" cy="7315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357616" y="1874519"/>
            <a:ext cx="64008" cy="5029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522208" y="2011680"/>
            <a:ext cx="64008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0" y="1938528"/>
            <a:ext cx="1600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115"/>
                </a:solidFill>
                <a:latin typeface="Inter"/>
              </a:rPr>
              <a:t>монохромная версия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2944368"/>
            <a:ext cx="2011680" cy="2011680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720840" y="3520440"/>
            <a:ext cx="685800" cy="822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720840" y="3794760"/>
            <a:ext cx="566928" cy="822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720840" y="4069080"/>
            <a:ext cx="429768" cy="822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7498079" y="3657600"/>
            <a:ext cx="64008" cy="274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635240" y="3520440"/>
            <a:ext cx="64008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7772400" y="3364992"/>
            <a:ext cx="64008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7909559" y="3520440"/>
            <a:ext cx="64008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6719" y="3657600"/>
            <a:ext cx="64008" cy="274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629400" y="5074920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AA4B2"/>
                </a:solidFill>
                <a:latin typeface="Inter"/>
              </a:rPr>
              <a:t>иконка 1:1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32520" y="2944368"/>
            <a:ext cx="2240280" cy="2011680"/>
          </a:xfrm>
          <a:prstGeom prst="roundRect">
            <a:avLst/>
          </a:prstGeom>
          <a:solidFill>
            <a:srgbClr val="12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961120" y="32461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4F6F8"/>
                </a:solidFill>
                <a:latin typeface="Inter"/>
              </a:rPr>
              <a:t>24 px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61120" y="384048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9AA4B2"/>
                </a:solidFill>
                <a:latin typeface="Inter"/>
              </a:rPr>
              <a:t>минимальный тест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48640" y="6473952"/>
            <a:ext cx="1108252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66928" y="6510528"/>
            <a:ext cx="8046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AA4B2"/>
                </a:solidFill>
                <a:latin typeface="Inter"/>
              </a:rPr>
              <a:t>ПР14 • BookReader • 30.09.2026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09960" y="6492240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9AA4B2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4F6F8"/>
                </a:solidFill>
                <a:latin typeface="Inter"/>
              </a:rPr>
              <a:t>13. Проверка применения и вывод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Inter"/>
              </a:rPr>
              <a:t>Логотип готов к базовым цифровым носителям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54480"/>
            <a:ext cx="1965960" cy="4114800"/>
          </a:xfrm>
          <a:prstGeom prst="roundRect">
            <a:avLst/>
          </a:prstGeom>
          <a:solidFill>
            <a:srgbClr val="09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96112" y="1719072"/>
            <a:ext cx="1728216" cy="3749039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54680" y="1554480"/>
            <a:ext cx="1965960" cy="4114800"/>
          </a:xfrm>
          <a:prstGeom prst="roundRect">
            <a:avLst/>
          </a:prstGeom>
          <a:solidFill>
            <a:srgbClr val="09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273552" y="1719072"/>
            <a:ext cx="1728216" cy="3749039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532120" y="1554480"/>
            <a:ext cx="1965960" cy="4114800"/>
          </a:xfrm>
          <a:prstGeom prst="roundRect">
            <a:avLst/>
          </a:prstGeom>
          <a:solidFill>
            <a:srgbClr val="09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650992" y="1719072"/>
            <a:ext cx="1728216" cy="3749039"/>
          </a:xfrm>
          <a:prstGeom prst="roundRect">
            <a:avLst/>
          </a:prstGeom>
          <a:solidFill>
            <a:srgbClr val="171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1901952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F6F8"/>
                </a:solidFill>
                <a:latin typeface="Inter"/>
              </a:rPr>
              <a:t>Library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7552" y="2395728"/>
            <a:ext cx="1280160" cy="822960"/>
          </a:xfrm>
          <a:prstGeom prst="roundRect">
            <a:avLst/>
          </a:prstGeom>
          <a:solidFill>
            <a:srgbClr val="242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87552" y="3401568"/>
            <a:ext cx="1280160" cy="822960"/>
          </a:xfrm>
          <a:prstGeom prst="roundRect">
            <a:avLst/>
          </a:prstGeom>
          <a:solidFill>
            <a:srgbClr val="252C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298448" y="2560320"/>
            <a:ext cx="658368" cy="109728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298448" y="3566160"/>
            <a:ext cx="548640" cy="109728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83280" y="1920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AA4B2"/>
                </a:solidFill>
                <a:latin typeface="Inter"/>
              </a:rPr>
              <a:t>Chapter 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359152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F6F8"/>
                </a:solidFill>
                <a:latin typeface="Inter"/>
              </a:rPr>
              <a:t>Текст книги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83280" y="2926080"/>
            <a:ext cx="1325880" cy="0"/>
          </a:xfrm>
          <a:prstGeom prst="line">
            <a:avLst/>
          </a:prstGeom>
          <a:ln w="1270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383280" y="3200400"/>
            <a:ext cx="1325880" cy="0"/>
          </a:xfrm>
          <a:prstGeom prst="line">
            <a:avLst/>
          </a:prstGeom>
          <a:ln w="1270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383280" y="3474720"/>
            <a:ext cx="1325880" cy="0"/>
          </a:xfrm>
          <a:prstGeom prst="line">
            <a:avLst/>
          </a:prstGeom>
          <a:ln w="1270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383280" y="3749039"/>
            <a:ext cx="1325880" cy="0"/>
          </a:xfrm>
          <a:prstGeom prst="line">
            <a:avLst/>
          </a:prstGeom>
          <a:ln w="1270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383280" y="4023360"/>
            <a:ext cx="1325880" cy="0"/>
          </a:xfrm>
          <a:prstGeom prst="line">
            <a:avLst/>
          </a:prstGeom>
          <a:ln w="1270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383280" y="4297680"/>
            <a:ext cx="1325880" cy="0"/>
          </a:xfrm>
          <a:prstGeom prst="line">
            <a:avLst/>
          </a:prstGeom>
          <a:ln w="1270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83280" y="4572000"/>
            <a:ext cx="1325880" cy="0"/>
          </a:xfrm>
          <a:prstGeom prst="line">
            <a:avLst/>
          </a:prstGeom>
          <a:ln w="12700">
            <a:solidFill>
              <a:srgbClr val="9AA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160520" y="4983480"/>
            <a:ext cx="502920" cy="201168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60720" y="1920240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498F5"/>
                </a:solidFill>
                <a:latin typeface="Inter"/>
              </a:rPr>
              <a:t>TTS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2395728"/>
            <a:ext cx="1234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4F6F8"/>
                </a:solidFill>
                <a:latin typeface="Inter"/>
              </a:rPr>
              <a:t>Слушать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06440" y="3063240"/>
            <a:ext cx="1234440" cy="109728"/>
          </a:xfrm>
          <a:prstGeom prst="roundRect">
            <a:avLst/>
          </a:prstGeom>
          <a:solidFill>
            <a:srgbClr val="349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5806440" y="3529584"/>
            <a:ext cx="914400" cy="109728"/>
          </a:xfrm>
          <a:prstGeom prst="roundRect">
            <a:avLst/>
          </a:prstGeom>
          <a:solidFill>
            <a:srgbClr val="9AA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5806440" y="3995928"/>
            <a:ext cx="640080" cy="109728"/>
          </a:xfrm>
          <a:prstGeom prst="roundRect">
            <a:avLst/>
          </a:prstGeom>
          <a:solidFill>
            <a:srgbClr val="9AA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92440" y="169164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498F5"/>
                </a:solidFill>
                <a:latin typeface="Inter"/>
              </a:rPr>
              <a:t>Вывод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214884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4F6F8"/>
                </a:solidFill>
                <a:latin typeface="Inter"/>
              </a:rPr>
              <a:t>Логотип поддерживает ТЗ: минимализм, порядок, технологичность, читаемость. Основной дифференциатор - связка текста и звука.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2440" y="388620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4B2"/>
                </a:solidFill>
                <a:latin typeface="Inter"/>
              </a:rPr>
              <a:t>Источники анализа конкурентов:
ReadEra - Google Play
FBReader - fbreader.org/ru/android
Moon+ Reader - Google Play
Kindle - Google Play
PocketBook - Google Play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5394960"/>
            <a:ext cx="29260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498F5"/>
                </a:solidFill>
                <a:latin typeface="Inter"/>
              </a:rPr>
              <a:t>Ручной этап: 6 эскизов на бумаге → фото → вставка в этот слайд перед сдачей.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73952"/>
            <a:ext cx="11082528" cy="0"/>
          </a:xfrm>
          <a:prstGeom prst="line">
            <a:avLst/>
          </a:prstGeom>
          <a:ln w="12700">
            <a:solidFill>
              <a:srgbClr val="171A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66928" y="6510528"/>
            <a:ext cx="8046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9AA4B2"/>
                </a:solidFill>
                <a:latin typeface="Inter"/>
              </a:rPr>
              <a:t>Источники: play.google.com; fbreader.org/ru/android. Данные проверены 30.09.2026.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92240"/>
            <a:ext cx="457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9AA4B2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862</Words>
  <Application>Microsoft Office PowerPoint</Application>
  <PresentationFormat>Widescreen</PresentationFormat>
  <Paragraphs>194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leo has</cp:lastModifiedBy>
  <cp:revision>3</cp:revision>
  <dcterms:created xsi:type="dcterms:W3CDTF">2013-01-27T09:14:16Z</dcterms:created>
  <dcterms:modified xsi:type="dcterms:W3CDTF">2026-09-30T10:28:16Z</dcterms:modified>
  <cp:category/>
</cp:coreProperties>
</file>